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25880"/>
            <a:ext cx="5029200" cy="5029200"/>
          </a:xfrm>
          <a:prstGeom prst="roundRect">
            <a:avLst>
              <a:gd name="adj" fmla="val 5455"/>
            </a:avLst>
          </a:prstGeom>
          <a:solidFill>
            <a:srgbClr val="E8006A">
              <a:alpha val="26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-1097280"/>
            <a:ext cx="4480560" cy="4480560"/>
          </a:xfrm>
          <a:prstGeom prst="roundRect">
            <a:avLst>
              <a:gd name="adj" fmla="val 6122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011680" y="4389120"/>
            <a:ext cx="5669280" cy="365760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7315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1216152"/>
            <a:ext cx="237744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2024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Subtitle or short framing statement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5E5E5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2910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ME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quick introduction before we get started.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583680" cy="4160520"/>
          </a:xfrm>
          <a:prstGeom prst="roundRect">
            <a:avLst>
              <a:gd name="adj" fmla="val 2198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57400"/>
            <a:ext cx="128016" cy="4160520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340864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ABOUT 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4672" y="2633472"/>
            <a:ext cx="53035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Roger Rajaratnam</a:t>
            </a:r>
            <a:endParaRPr lang="en-US" sz="3100" dirty="0"/>
          </a:p>
        </p:txBody>
      </p:sp>
      <p:sp>
        <p:nvSpPr>
          <p:cNvPr id="15" name="Text 13"/>
          <p:cNvSpPr/>
          <p:nvPr/>
        </p:nvSpPr>
        <p:spPr>
          <a:xfrm>
            <a:off x="804672" y="3163824"/>
            <a:ext cx="5623560" cy="6217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help people move into tech, engineers grow, and teams improve how they build software.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04672" y="3895344"/>
            <a:ext cx="5623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am a software engineer in London working across product engineering, delivery, mentoring, and team leadership.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4590288"/>
            <a:ext cx="562356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 focus on practical engineering improvement: clearer habits, better delivery, and more confidence for the people doing the work.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4672" y="5532120"/>
            <a:ext cx="1572768" cy="402336"/>
          </a:xfrm>
          <a:prstGeom prst="roundRect">
            <a:avLst>
              <a:gd name="adj" fmla="val 27273"/>
            </a:avLst>
          </a:prstGeom>
          <a:solidFill>
            <a:srgbClr val="2A7D5B">
              <a:alpha val="14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563270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CAREER CHANGERS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542032" y="5532120"/>
            <a:ext cx="1901952" cy="402336"/>
          </a:xfrm>
          <a:prstGeom prst="roundRect">
            <a:avLst>
              <a:gd name="adj" fmla="val 27273"/>
            </a:avLst>
          </a:prstGeom>
          <a:solidFill>
            <a:srgbClr val="E8006A">
              <a:alpha val="12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5632704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ENGINEERS GROWING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08576" y="5532120"/>
            <a:ext cx="2148840" cy="402336"/>
          </a:xfrm>
          <a:prstGeom prst="roundRect">
            <a:avLst>
              <a:gd name="adj" fmla="val 27273"/>
            </a:avLst>
          </a:prstGeom>
          <a:solidFill>
            <a:srgbClr val="E5D8C9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36592" y="5632704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TEAMS RAISING THE BAR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269480" y="2057400"/>
            <a:ext cx="4462272" cy="1325880"/>
          </a:xfrm>
          <a:prstGeom prst="roundRect">
            <a:avLst>
              <a:gd name="adj" fmla="val 5517"/>
            </a:avLst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9480" y="2057400"/>
            <a:ext cx="4462272" cy="73152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16368" y="2322576"/>
            <a:ext cx="1188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D8D8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CURRENTLY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16368" y="26151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Staff Engineer</a:t>
            </a:r>
            <a:endParaRPr lang="en-US" sz="2300" dirty="0"/>
          </a:p>
        </p:txBody>
      </p:sp>
      <p:sp>
        <p:nvSpPr>
          <p:cNvPr id="28" name="Text 26"/>
          <p:cNvSpPr/>
          <p:nvPr/>
        </p:nvSpPr>
        <p:spPr>
          <a:xfrm>
            <a:off x="7516368" y="2926080"/>
            <a:ext cx="3520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NewDay · London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269480" y="3611880"/>
            <a:ext cx="4462272" cy="1325880"/>
          </a:xfrm>
          <a:prstGeom prst="roundRect">
            <a:avLst>
              <a:gd name="adj" fmla="val 5517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16368" y="3858768"/>
            <a:ext cx="20116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TEACHING BACKGROUND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16368" y="4142232"/>
            <a:ext cx="379476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Full-Stack Bootcamp Instructor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516368" y="449884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The Jump Digital School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269480" y="5166360"/>
            <a:ext cx="4462272" cy="1051560"/>
          </a:xfrm>
          <a:prstGeom prst="roundRect">
            <a:avLst>
              <a:gd name="adj" fmla="val 6957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16368" y="5413248"/>
            <a:ext cx="12801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QUICK FACTS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516368" y="56692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Fintech · mentoring · engineering practice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HEADING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this slide to split major themes.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1645920" cy="256032"/>
          </a:xfrm>
          <a:prstGeom prst="roundRect">
            <a:avLst>
              <a:gd name="adj" fmla="val 50000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1929384"/>
            <a:ext cx="1325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GUIDE BREAK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11277295" cy="3246120"/>
          </a:xfrm>
          <a:prstGeom prst="roundRect">
            <a:avLst>
              <a:gd name="adj" fmla="val 225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331720"/>
            <a:ext cx="146304" cy="3246120"/>
          </a:xfrm>
          <a:prstGeom prst="rect">
            <a:avLst/>
          </a:prstGeom>
          <a:solidFill>
            <a:srgbClr val="E8006A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063240"/>
            <a:ext cx="89611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SECTION TITLE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960120" y="384048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Optional context line for this part of the deck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GUIDE MAP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 fast orientation slide for what to cover next.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11277295" cy="4206240"/>
          </a:xfrm>
          <a:prstGeom prst="roundRect">
            <a:avLst>
              <a:gd name="adj" fmla="val 217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51760"/>
            <a:ext cx="10561320" cy="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286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WHERE WE'RE GOING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68680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5568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15568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START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115568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Problem framing and success criteria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407408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54296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D5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54296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BUILD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4654296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Approach, trade-offs, and technical decisions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946136" y="2971800"/>
            <a:ext cx="3383280" cy="2697480"/>
          </a:xfrm>
          <a:prstGeom prst="roundRect">
            <a:avLst>
              <a:gd name="adj" fmla="val 2712"/>
            </a:avLst>
          </a:prstGeom>
          <a:solidFill>
            <a:srgbClr val="E5D8C9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193024" y="3154680"/>
            <a:ext cx="548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193024" y="345643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SHIP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8193024" y="3931920"/>
            <a:ext cx="29260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Outcomes, metrics, and next guide steps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WORKING SLIDE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Two-column layout for argument + evidence.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91072" y="2148840"/>
            <a:ext cx="5440680" cy="397764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6384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Argument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86384" y="2971800"/>
            <a:ext cx="475488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Context and constraint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Key decision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- Why this approach won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20256" y="248716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Evidence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620256" y="2971800"/>
            <a:ext cx="4754880" cy="2834640"/>
          </a:xfrm>
          <a:prstGeom prst="roundRect">
            <a:avLst>
              <a:gd name="adj" fmla="val 2581"/>
            </a:avLst>
          </a:prstGeom>
          <a:solidFill>
            <a:srgbClr val="F6ECE1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416052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Drop chart, screenshot, or code snippet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TECHNICAL DECISION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Frame rationale clearly: problem, constraints, decision, and trade-offs.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11277295" cy="4206240"/>
          </a:xfrm>
          <a:prstGeom prst="roundRect">
            <a:avLst>
              <a:gd name="adj" fmla="val 2174"/>
            </a:avLst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57400"/>
            <a:ext cx="128016" cy="4206240"/>
          </a:xfrm>
          <a:prstGeom prst="rect">
            <a:avLst/>
          </a:prstGeom>
          <a:solidFill>
            <a:srgbClr val="2A7D5B"/>
          </a:solidFill>
          <a:ln w="12700">
            <a:solidFill>
              <a:srgbClr val="2A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4114800"/>
            <a:ext cx="10698480" cy="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61888" y="2423160"/>
            <a:ext cx="0" cy="3611880"/>
          </a:xfrm>
          <a:prstGeom prst="line">
            <a:avLst/>
          </a:prstGeom>
          <a:noFill/>
          <a:ln w="12700">
            <a:solidFill>
              <a:srgbClr val="D8C5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1248" y="2788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is failing, slow, or expensive today?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54496" y="24688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5A4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02  CONSTRAINTS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54496" y="27889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Latency, cost, team bandwidth, risk, and deadlines.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7D5B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03  DECISION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State the chosen approach in one sentence.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54496" y="438912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  TRADE-OFFS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54496" y="470916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What you gained, what you gave up, and why it is acceptable.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QUOTE LAYOUT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Ideal for key takeaways and narrative pivots.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43000" y="2240280"/>
            <a:ext cx="9921240" cy="3063240"/>
          </a:xfrm>
          <a:prstGeom prst="roundRect">
            <a:avLst>
              <a:gd name="adj" fmla="val 2985"/>
            </a:avLst>
          </a:prstGeom>
          <a:solidFill>
            <a:srgbClr val="FFFAF4"/>
          </a:solidFill>
          <a:ln w="12700">
            <a:solidFill>
              <a:srgbClr val="E800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" y="2240280"/>
            <a:ext cx="128016" cy="3063240"/>
          </a:xfrm>
          <a:prstGeom prst="rect">
            <a:avLst/>
          </a:prstGeom>
          <a:solidFill>
            <a:srgbClr val="2A7D5B"/>
          </a:solidFill>
          <a:ln w="12700">
            <a:solidFill>
              <a:srgbClr val="2A7D5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E8006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"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2194560" y="3017520"/>
            <a:ext cx="8138160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700" i="1" dirty="0">
                <a:solidFill>
                  <a:srgbClr val="0F0F0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a strong insight, user quote, or key lesson from the project.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2194560" y="4681728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Attribution / Source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C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920240" y="-1097280"/>
            <a:ext cx="5394960" cy="4480560"/>
          </a:xfrm>
          <a:prstGeom prst="roundRect">
            <a:avLst>
              <a:gd name="adj" fmla="val 6122"/>
            </a:avLst>
          </a:prstGeom>
          <a:solidFill>
            <a:srgbClr val="E8006A">
              <a:alpha val="8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-1371600"/>
            <a:ext cx="5669280" cy="5120640"/>
          </a:xfrm>
          <a:prstGeom prst="roundRect">
            <a:avLst>
              <a:gd name="adj" fmla="val 5357"/>
            </a:avLst>
          </a:prstGeom>
          <a:solidFill>
            <a:srgbClr val="2A7D5B">
              <a:alpha val="10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5029200"/>
            <a:ext cx="7406640" cy="3108960"/>
          </a:xfrm>
          <a:prstGeom prst="roundRect">
            <a:avLst>
              <a:gd name="adj" fmla="val 8824"/>
            </a:avLst>
          </a:prstGeom>
          <a:solidFill>
            <a:srgbClr val="E5D8C9">
              <a:alpha val="76000"/>
            </a:srgbClr>
          </a:solidFill>
          <a:ln w="12700">
            <a:solidFill>
              <a:srgbClr val="E5D8C9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01410"/>
          </a:solidFill>
          <a:ln w="12700">
            <a:solidFill>
              <a:srgbClr val="10141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621792"/>
            <a:ext cx="12191695" cy="0"/>
          </a:xfrm>
          <a:prstGeom prst="line">
            <a:avLst/>
          </a:prstGeom>
          <a:noFill/>
          <a:ln w="12700">
            <a:solidFill>
              <a:srgbClr val="2A7D5B">
                <a:alpha val="76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5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SOURCIER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9144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F0F0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IMAGE + CAPTION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7200" y="160020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Use for screenshots, architecture diagrams, or mockups.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10744200" cy="3931920"/>
          </a:xfrm>
          <a:prstGeom prst="rect">
            <a:avLst/>
          </a:prstGeom>
          <a:solidFill>
            <a:srgbClr val="FFFAF4"/>
          </a:solidFill>
          <a:ln w="12700">
            <a:solidFill>
              <a:srgbClr val="D8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011680"/>
            <a:ext cx="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731520" y="2011680"/>
            <a:ext cx="10744200" cy="393192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92040" y="3867912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Replace with screenshot or diagram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6080760"/>
            <a:ext cx="10744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Caption: what this shows and why it matters.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6446520"/>
            <a:ext cx="11277295" cy="0"/>
          </a:xfrm>
          <a:prstGeom prst="line">
            <a:avLst/>
          </a:prstGeom>
          <a:noFill/>
          <a:ln w="12700">
            <a:solidFill>
              <a:srgbClr val="D7D7D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6473952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744200" y="6473952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[slide number]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-1645920"/>
            <a:ext cx="5852160" cy="5852160"/>
          </a:xfrm>
          <a:prstGeom prst="roundRect">
            <a:avLst>
              <a:gd name="adj" fmla="val 4688"/>
            </a:avLst>
          </a:prstGeom>
          <a:solidFill>
            <a:srgbClr val="E8006A">
              <a:alpha val="30000"/>
            </a:srgbClr>
          </a:solidFill>
          <a:ln w="12700">
            <a:solidFill>
              <a:srgbClr val="E8006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18320" y="-731520"/>
            <a:ext cx="4572000" cy="4572000"/>
          </a:xfrm>
          <a:prstGeom prst="roundRect">
            <a:avLst>
              <a:gd name="adj" fmla="val 6000"/>
            </a:avLst>
          </a:prstGeom>
          <a:solidFill>
            <a:srgbClr val="2A7D5B">
              <a:alpha val="18000"/>
            </a:srgbClr>
          </a:solidFill>
          <a:ln w="12700">
            <a:solidFill>
              <a:srgbClr val="2A7D5B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THANK YOU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D8D8D8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Questions?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840480"/>
            <a:ext cx="4389120" cy="0"/>
          </a:xfrm>
          <a:prstGeom prst="line">
            <a:avLst/>
          </a:prstGeom>
          <a:noFill/>
          <a:ln w="12700">
            <a:solidFill>
              <a:srgbClr val="E800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663440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Roger Rajaratnam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499262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00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sourcier.uk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Sourcier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Sourcier Blog PowerPoint Template</dc:title>
  <dc:subject>Sourcier presentation template</dc:subject>
  <dc:creator>Sourcier</dc:creator>
  <cp:lastModifiedBy>Sourcier</cp:lastModifiedBy>
  <cp:revision>1</cp:revision>
  <dcterms:created xsi:type="dcterms:W3CDTF">2026-04-20T11:26:10Z</dcterms:created>
  <dcterms:modified xsi:type="dcterms:W3CDTF">2026-04-20T11:26:10Z</dcterms:modified>
</cp:coreProperties>
</file>