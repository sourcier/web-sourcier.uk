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1325880"/>
            <a:ext cx="5029200" cy="5029200"/>
          </a:xfrm>
          <a:prstGeom prst="roundRect">
            <a:avLst>
              <a:gd name="adj" fmla="val 5455"/>
            </a:avLst>
          </a:prstGeom>
          <a:solidFill>
            <a:srgbClr val="E8006A">
              <a:alpha val="26000"/>
            </a:srgbClr>
          </a:solidFill>
          <a:ln w="12700">
            <a:solidFill>
              <a:srgbClr val="E8006A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0" y="-1097280"/>
            <a:ext cx="4480560" cy="4480560"/>
          </a:xfrm>
          <a:prstGeom prst="roundRect">
            <a:avLst>
              <a:gd name="adj" fmla="val 6122"/>
            </a:avLst>
          </a:prstGeom>
          <a:solidFill>
            <a:srgbClr val="2A7D5B">
              <a:alpha val="18000"/>
            </a:srgbClr>
          </a:solidFill>
          <a:ln w="12700">
            <a:solidFill>
              <a:srgbClr val="2A7D5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2011680" y="4389120"/>
            <a:ext cx="5669280" cy="3657600"/>
          </a:xfrm>
          <a:prstGeom prst="roundRect">
            <a:avLst>
              <a:gd name="adj" fmla="val 75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73152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SOURCIER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731520" y="1216152"/>
            <a:ext cx="2377440" cy="0"/>
          </a:xfrm>
          <a:prstGeom prst="line">
            <a:avLst/>
          </a:prstGeom>
          <a:noFill/>
          <a:ln w="12700">
            <a:solidFill>
              <a:srgbClr val="E8006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920240"/>
            <a:ext cx="9784080" cy="10058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PRESENTATION TITLE</a:t>
            </a:r>
            <a:endParaRPr lang="en-US" sz="5400" dirty="0"/>
          </a:p>
        </p:txBody>
      </p:sp>
      <p:sp>
        <p:nvSpPr>
          <p:cNvPr id="8" name="Text 6"/>
          <p:cNvSpPr/>
          <p:nvPr/>
        </p:nvSpPr>
        <p:spPr>
          <a:xfrm>
            <a:off x="731520" y="306324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5E5E5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Subtitle or short framing statement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731520" y="5989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5E5E5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Roger Rajaratnam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31520" y="6291072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006A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sourcier.uk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EC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920240" y="-1097280"/>
            <a:ext cx="5394960" cy="4480560"/>
          </a:xfrm>
          <a:prstGeom prst="roundRect">
            <a:avLst>
              <a:gd name="adj" fmla="val 6122"/>
            </a:avLst>
          </a:prstGeom>
          <a:solidFill>
            <a:srgbClr val="E8006A">
              <a:alpha val="8000"/>
            </a:srgbClr>
          </a:solidFill>
          <a:ln w="12700">
            <a:solidFill>
              <a:srgbClr val="E8006A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412480" y="-1371600"/>
            <a:ext cx="5669280" cy="5120640"/>
          </a:xfrm>
          <a:prstGeom prst="roundRect">
            <a:avLst>
              <a:gd name="adj" fmla="val 5357"/>
            </a:avLst>
          </a:prstGeom>
          <a:solidFill>
            <a:srgbClr val="2A7D5B">
              <a:alpha val="10000"/>
            </a:srgbClr>
          </a:solidFill>
          <a:ln w="12700">
            <a:solidFill>
              <a:srgbClr val="2A7D5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5029200"/>
            <a:ext cx="7406640" cy="3108960"/>
          </a:xfrm>
          <a:prstGeom prst="roundRect">
            <a:avLst>
              <a:gd name="adj" fmla="val 8824"/>
            </a:avLst>
          </a:prstGeom>
          <a:solidFill>
            <a:srgbClr val="E5D8C9">
              <a:alpha val="76000"/>
            </a:srgbClr>
          </a:solidFill>
          <a:ln w="12700">
            <a:solidFill>
              <a:srgbClr val="E5D8C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01410"/>
          </a:solidFill>
          <a:ln w="12700">
            <a:solidFill>
              <a:srgbClr val="10141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658368"/>
            <a:ext cx="12191695" cy="0"/>
          </a:xfrm>
          <a:prstGeom prst="line">
            <a:avLst/>
          </a:prstGeom>
          <a:noFill/>
          <a:ln w="12700">
            <a:solidFill>
              <a:srgbClr val="E8006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21792"/>
            <a:ext cx="12191695" cy="0"/>
          </a:xfrm>
          <a:prstGeom prst="line">
            <a:avLst/>
          </a:prstGeom>
          <a:noFill/>
          <a:ln w="12700">
            <a:solidFill>
              <a:srgbClr val="2A7D5B">
                <a:alpha val="76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55448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SOURCIER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914400"/>
            <a:ext cx="786384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F0F0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ABOUT ME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457200" y="1600200"/>
            <a:ext cx="89611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6B6B6B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A quick introduction before we get started.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57200" y="2057400"/>
            <a:ext cx="6583680" cy="4160520"/>
          </a:xfrm>
          <a:prstGeom prst="roundRect">
            <a:avLst>
              <a:gd name="adj" fmla="val 2198"/>
            </a:avLst>
          </a:prstGeom>
          <a:solidFill>
            <a:srgbClr val="FFFAF4"/>
          </a:solidFill>
          <a:ln w="12700">
            <a:solidFill>
              <a:srgbClr val="D8C5A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2057400"/>
            <a:ext cx="128016" cy="4160520"/>
          </a:xfrm>
          <a:prstGeom prst="rect">
            <a:avLst/>
          </a:prstGeom>
          <a:solidFill>
            <a:srgbClr val="E8006A"/>
          </a:solidFill>
          <a:ln w="12700">
            <a:solidFill>
              <a:srgbClr val="E8006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04672" y="2340864"/>
            <a:ext cx="15544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5A40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ABOUT ME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04672" y="2633472"/>
            <a:ext cx="53035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0F0F0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Roger Rajaratnam</a:t>
            </a:r>
            <a:endParaRPr lang="en-US" sz="3100" dirty="0"/>
          </a:p>
        </p:txBody>
      </p:sp>
      <p:sp>
        <p:nvSpPr>
          <p:cNvPr id="15" name="Text 13"/>
          <p:cNvSpPr/>
          <p:nvPr/>
        </p:nvSpPr>
        <p:spPr>
          <a:xfrm>
            <a:off x="804672" y="3163824"/>
            <a:ext cx="5623560" cy="6217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6B6B6B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I help people move into tech, engineers grow, and teams improve how they build software.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04672" y="3895344"/>
            <a:ext cx="56235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0F0F0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I am a software engineer in London working across product engineering, delivery, mentoring, and team leadership.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04672" y="4590288"/>
            <a:ext cx="562356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I focus on practical engineering improvement: clearer habits, better delivery, and more confidence for the people doing the work.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804672" y="5532120"/>
            <a:ext cx="1572768" cy="402336"/>
          </a:xfrm>
          <a:prstGeom prst="roundRect">
            <a:avLst>
              <a:gd name="adj" fmla="val 27273"/>
            </a:avLst>
          </a:prstGeom>
          <a:solidFill>
            <a:srgbClr val="2A7D5B">
              <a:alpha val="14000"/>
            </a:srgbClr>
          </a:solidFill>
          <a:ln w="12700">
            <a:solidFill>
              <a:srgbClr val="2A7D5B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112" y="5632704"/>
            <a:ext cx="1389888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5A40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CAREER CHANGERS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2542032" y="5532120"/>
            <a:ext cx="1901952" cy="402336"/>
          </a:xfrm>
          <a:prstGeom prst="roundRect">
            <a:avLst>
              <a:gd name="adj" fmla="val 27273"/>
            </a:avLst>
          </a:prstGeom>
          <a:solidFill>
            <a:srgbClr val="E8006A">
              <a:alpha val="12000"/>
            </a:srgbClr>
          </a:solidFill>
          <a:ln w="12700">
            <a:solidFill>
              <a:srgbClr val="E8006A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660904" y="5632704"/>
            <a:ext cx="1664208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8006A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ENGINEERS GROWING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608576" y="5532120"/>
            <a:ext cx="2148840" cy="402336"/>
          </a:xfrm>
          <a:prstGeom prst="roundRect">
            <a:avLst>
              <a:gd name="adj" fmla="val 27273"/>
            </a:avLst>
          </a:prstGeom>
          <a:solidFill>
            <a:srgbClr val="E5D8C9"/>
          </a:solidFill>
          <a:ln w="12700">
            <a:solidFill>
              <a:srgbClr val="D8C5A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36592" y="5632704"/>
            <a:ext cx="1892808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0F0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TEAMS RAISING THE BAR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269480" y="2057400"/>
            <a:ext cx="4462272" cy="1325880"/>
          </a:xfrm>
          <a:prstGeom prst="roundRect">
            <a:avLst>
              <a:gd name="adj" fmla="val 5517"/>
            </a:avLst>
          </a:prstGeom>
          <a:solidFill>
            <a:srgbClr val="101410"/>
          </a:solidFill>
          <a:ln w="12700">
            <a:solidFill>
              <a:srgbClr val="10141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269480" y="2057400"/>
            <a:ext cx="4462272" cy="73152"/>
          </a:xfrm>
          <a:prstGeom prst="rect">
            <a:avLst/>
          </a:prstGeom>
          <a:solidFill>
            <a:srgbClr val="E8006A"/>
          </a:solidFill>
          <a:ln w="12700">
            <a:solidFill>
              <a:srgbClr val="E8006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516368" y="2322576"/>
            <a:ext cx="11887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8D8D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CURRENTLY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7516368" y="2615184"/>
            <a:ext cx="352044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Staff Engineer</a:t>
            </a:r>
            <a:endParaRPr lang="en-US" sz="2300" dirty="0"/>
          </a:p>
        </p:txBody>
      </p:sp>
      <p:sp>
        <p:nvSpPr>
          <p:cNvPr id="28" name="Text 26"/>
          <p:cNvSpPr/>
          <p:nvPr/>
        </p:nvSpPr>
        <p:spPr>
          <a:xfrm>
            <a:off x="7516368" y="2926080"/>
            <a:ext cx="3520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8D8D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NewDay · London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269480" y="3611880"/>
            <a:ext cx="4462272" cy="1325880"/>
          </a:xfrm>
          <a:prstGeom prst="roundRect">
            <a:avLst>
              <a:gd name="adj" fmla="val 5517"/>
            </a:avLst>
          </a:prstGeom>
          <a:solidFill>
            <a:srgbClr val="FFFAF4"/>
          </a:solidFill>
          <a:ln w="12700">
            <a:solidFill>
              <a:srgbClr val="D8C5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516368" y="3858768"/>
            <a:ext cx="20116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5A40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TEACHING BACKGROUND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7516368" y="4142232"/>
            <a:ext cx="379476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0F0F0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Full-Stack Bootcamp Instructor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7516368" y="4498848"/>
            <a:ext cx="3566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The Jump Digital School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7269480" y="5166360"/>
            <a:ext cx="4462272" cy="1051560"/>
          </a:xfrm>
          <a:prstGeom prst="roundRect">
            <a:avLst>
              <a:gd name="adj" fmla="val 6957"/>
            </a:avLst>
          </a:prstGeom>
          <a:solidFill>
            <a:srgbClr val="F6ECE1"/>
          </a:solidFill>
          <a:ln w="12700">
            <a:solidFill>
              <a:srgbClr val="D8C5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516368" y="5413248"/>
            <a:ext cx="12801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5A40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QUICK FACTS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7516368" y="566928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0F0F0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Fintech · mentoring · engineering practice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12700">
            <a:solidFill>
              <a:srgbClr val="D7D7D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57200" y="6473952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sourcier.uk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10744200" y="6473952"/>
            <a:ext cx="1005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[slide number]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EC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920240" y="-1097280"/>
            <a:ext cx="5394960" cy="4480560"/>
          </a:xfrm>
          <a:prstGeom prst="roundRect">
            <a:avLst>
              <a:gd name="adj" fmla="val 6122"/>
            </a:avLst>
          </a:prstGeom>
          <a:solidFill>
            <a:srgbClr val="E8006A">
              <a:alpha val="8000"/>
            </a:srgbClr>
          </a:solidFill>
          <a:ln w="12700">
            <a:solidFill>
              <a:srgbClr val="E8006A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412480" y="-1371600"/>
            <a:ext cx="5669280" cy="5120640"/>
          </a:xfrm>
          <a:prstGeom prst="roundRect">
            <a:avLst>
              <a:gd name="adj" fmla="val 5357"/>
            </a:avLst>
          </a:prstGeom>
          <a:solidFill>
            <a:srgbClr val="2A7D5B">
              <a:alpha val="10000"/>
            </a:srgbClr>
          </a:solidFill>
          <a:ln w="12700">
            <a:solidFill>
              <a:srgbClr val="2A7D5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5029200"/>
            <a:ext cx="7406640" cy="3108960"/>
          </a:xfrm>
          <a:prstGeom prst="roundRect">
            <a:avLst>
              <a:gd name="adj" fmla="val 8824"/>
            </a:avLst>
          </a:prstGeom>
          <a:solidFill>
            <a:srgbClr val="E5D8C9">
              <a:alpha val="76000"/>
            </a:srgbClr>
          </a:solidFill>
          <a:ln w="12700">
            <a:solidFill>
              <a:srgbClr val="E5D8C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01410"/>
          </a:solidFill>
          <a:ln w="12700">
            <a:solidFill>
              <a:srgbClr val="10141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658368"/>
            <a:ext cx="12191695" cy="0"/>
          </a:xfrm>
          <a:prstGeom prst="line">
            <a:avLst/>
          </a:prstGeom>
          <a:noFill/>
          <a:ln w="12700">
            <a:solidFill>
              <a:srgbClr val="E8006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21792"/>
            <a:ext cx="12191695" cy="0"/>
          </a:xfrm>
          <a:prstGeom prst="line">
            <a:avLst/>
          </a:prstGeom>
          <a:noFill/>
          <a:ln w="12700">
            <a:solidFill>
              <a:srgbClr val="2A7D5B">
                <a:alpha val="76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55448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SOURCIER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914400"/>
            <a:ext cx="786384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F0F0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SECTION HEADING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457200" y="1600200"/>
            <a:ext cx="89611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6B6B6B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Use this slide to split major themes.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57200" y="1892808"/>
            <a:ext cx="1645920" cy="256032"/>
          </a:xfrm>
          <a:prstGeom prst="roundRect">
            <a:avLst>
              <a:gd name="adj" fmla="val 50000"/>
            </a:avLst>
          </a:prstGeom>
          <a:solidFill>
            <a:srgbClr val="2A7D5B">
              <a:alpha val="18000"/>
            </a:srgbClr>
          </a:solidFill>
          <a:ln w="12700">
            <a:solidFill>
              <a:srgbClr val="2A7D5B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1792" y="1929384"/>
            <a:ext cx="1325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5A40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GUIDE BREAK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2331720"/>
            <a:ext cx="11277295" cy="3246120"/>
          </a:xfrm>
          <a:prstGeom prst="roundRect">
            <a:avLst>
              <a:gd name="adj" fmla="val 2254"/>
            </a:avLst>
          </a:prstGeom>
          <a:solidFill>
            <a:srgbClr val="FFFAF4"/>
          </a:solidFill>
          <a:ln w="12700">
            <a:solidFill>
              <a:srgbClr val="D8C5A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7200" y="2331720"/>
            <a:ext cx="146304" cy="3246120"/>
          </a:xfrm>
          <a:prstGeom prst="rect">
            <a:avLst/>
          </a:prstGeom>
          <a:solidFill>
            <a:srgbClr val="E8006A"/>
          </a:solidFill>
          <a:ln w="12700">
            <a:solidFill>
              <a:srgbClr val="E8006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60120" y="3063240"/>
            <a:ext cx="89611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0F0F0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SECTION TITLE</a:t>
            </a:r>
            <a:endParaRPr lang="en-US" sz="4200" dirty="0"/>
          </a:p>
        </p:txBody>
      </p:sp>
      <p:sp>
        <p:nvSpPr>
          <p:cNvPr id="16" name="Text 14"/>
          <p:cNvSpPr/>
          <p:nvPr/>
        </p:nvSpPr>
        <p:spPr>
          <a:xfrm>
            <a:off x="960120" y="384048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6B6B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Optional context line for this part of the deck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12700">
            <a:solidFill>
              <a:srgbClr val="D7D7D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6473952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sourcier.uk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0744200" y="6473952"/>
            <a:ext cx="1005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[slide number]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EC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920240" y="-1097280"/>
            <a:ext cx="5394960" cy="4480560"/>
          </a:xfrm>
          <a:prstGeom prst="roundRect">
            <a:avLst>
              <a:gd name="adj" fmla="val 6122"/>
            </a:avLst>
          </a:prstGeom>
          <a:solidFill>
            <a:srgbClr val="E8006A">
              <a:alpha val="8000"/>
            </a:srgbClr>
          </a:solidFill>
          <a:ln w="12700">
            <a:solidFill>
              <a:srgbClr val="E8006A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412480" y="-1371600"/>
            <a:ext cx="5669280" cy="5120640"/>
          </a:xfrm>
          <a:prstGeom prst="roundRect">
            <a:avLst>
              <a:gd name="adj" fmla="val 5357"/>
            </a:avLst>
          </a:prstGeom>
          <a:solidFill>
            <a:srgbClr val="2A7D5B">
              <a:alpha val="10000"/>
            </a:srgbClr>
          </a:solidFill>
          <a:ln w="12700">
            <a:solidFill>
              <a:srgbClr val="2A7D5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5029200"/>
            <a:ext cx="7406640" cy="3108960"/>
          </a:xfrm>
          <a:prstGeom prst="roundRect">
            <a:avLst>
              <a:gd name="adj" fmla="val 8824"/>
            </a:avLst>
          </a:prstGeom>
          <a:solidFill>
            <a:srgbClr val="E5D8C9">
              <a:alpha val="76000"/>
            </a:srgbClr>
          </a:solidFill>
          <a:ln w="12700">
            <a:solidFill>
              <a:srgbClr val="E5D8C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01410"/>
          </a:solidFill>
          <a:ln w="12700">
            <a:solidFill>
              <a:srgbClr val="10141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658368"/>
            <a:ext cx="12191695" cy="0"/>
          </a:xfrm>
          <a:prstGeom prst="line">
            <a:avLst/>
          </a:prstGeom>
          <a:noFill/>
          <a:ln w="12700">
            <a:solidFill>
              <a:srgbClr val="E8006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21792"/>
            <a:ext cx="12191695" cy="0"/>
          </a:xfrm>
          <a:prstGeom prst="line">
            <a:avLst/>
          </a:prstGeom>
          <a:noFill/>
          <a:ln w="12700">
            <a:solidFill>
              <a:srgbClr val="2A7D5B">
                <a:alpha val="76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55448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SOURCIER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914400"/>
            <a:ext cx="786384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F0F0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GUIDE MAP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457200" y="1600200"/>
            <a:ext cx="89611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6B6B6B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A fast orientation slide for what to cover next.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57200" y="2057400"/>
            <a:ext cx="11277295" cy="4206240"/>
          </a:xfrm>
          <a:prstGeom prst="roundRect">
            <a:avLst>
              <a:gd name="adj" fmla="val 2174"/>
            </a:avLst>
          </a:prstGeom>
          <a:solidFill>
            <a:srgbClr val="FFFAF4"/>
          </a:solidFill>
          <a:ln w="12700">
            <a:solidFill>
              <a:srgbClr val="D8C5A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2651760"/>
            <a:ext cx="10561320" cy="0"/>
          </a:xfrm>
          <a:prstGeom prst="line">
            <a:avLst/>
          </a:prstGeom>
          <a:noFill/>
          <a:ln w="12700">
            <a:solidFill>
              <a:srgbClr val="D8C5A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228600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5A40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WHERE WE'RE GOING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68680" y="2971800"/>
            <a:ext cx="3383280" cy="2697480"/>
          </a:xfrm>
          <a:prstGeom prst="roundRect">
            <a:avLst>
              <a:gd name="adj" fmla="val 2712"/>
            </a:avLst>
          </a:prstGeom>
          <a:solidFill>
            <a:srgbClr val="F6ECE1"/>
          </a:solidFill>
          <a:ln w="12700">
            <a:solidFill>
              <a:srgbClr val="D8C5A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15568" y="3154680"/>
            <a:ext cx="548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006A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01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115568" y="3456432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0F0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START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1115568" y="3931920"/>
            <a:ext cx="292608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Problem framing and success criteria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4407408" y="2971800"/>
            <a:ext cx="3383280" cy="2697480"/>
          </a:xfrm>
          <a:prstGeom prst="roundRect">
            <a:avLst>
              <a:gd name="adj" fmla="val 2712"/>
            </a:avLst>
          </a:prstGeom>
          <a:solidFill>
            <a:srgbClr val="FFFAF4"/>
          </a:solidFill>
          <a:ln w="12700">
            <a:solidFill>
              <a:srgbClr val="D8C5A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54296" y="3154680"/>
            <a:ext cx="548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7D5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02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4654296" y="3456432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0F0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BUILD</a:t>
            </a:r>
            <a:endParaRPr lang="en-US" sz="2700" dirty="0"/>
          </a:p>
        </p:txBody>
      </p:sp>
      <p:sp>
        <p:nvSpPr>
          <p:cNvPr id="21" name="Text 19"/>
          <p:cNvSpPr/>
          <p:nvPr/>
        </p:nvSpPr>
        <p:spPr>
          <a:xfrm>
            <a:off x="4654296" y="3931920"/>
            <a:ext cx="292608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Approach, trade-offs, and technical decisions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7946136" y="2971800"/>
            <a:ext cx="3383280" cy="2697480"/>
          </a:xfrm>
          <a:prstGeom prst="roundRect">
            <a:avLst>
              <a:gd name="adj" fmla="val 2712"/>
            </a:avLst>
          </a:prstGeom>
          <a:solidFill>
            <a:srgbClr val="E5D8C9"/>
          </a:solidFill>
          <a:ln w="12700">
            <a:solidFill>
              <a:srgbClr val="D8C5A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193024" y="3154680"/>
            <a:ext cx="548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5A40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03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8193024" y="3456432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0F0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SHIP</a:t>
            </a:r>
            <a:endParaRPr lang="en-US" sz="2700" dirty="0"/>
          </a:p>
        </p:txBody>
      </p:sp>
      <p:sp>
        <p:nvSpPr>
          <p:cNvPr id="25" name="Text 23"/>
          <p:cNvSpPr/>
          <p:nvPr/>
        </p:nvSpPr>
        <p:spPr>
          <a:xfrm>
            <a:off x="8193024" y="3931920"/>
            <a:ext cx="292608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Outcomes, metrics, and next guide steps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12700">
            <a:solidFill>
              <a:srgbClr val="D7D7D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7200" y="6473952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sourcier.uk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0744200" y="6473952"/>
            <a:ext cx="1005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[slide number]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EC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920240" y="-1097280"/>
            <a:ext cx="5394960" cy="4480560"/>
          </a:xfrm>
          <a:prstGeom prst="roundRect">
            <a:avLst>
              <a:gd name="adj" fmla="val 6122"/>
            </a:avLst>
          </a:prstGeom>
          <a:solidFill>
            <a:srgbClr val="E8006A">
              <a:alpha val="8000"/>
            </a:srgbClr>
          </a:solidFill>
          <a:ln w="12700">
            <a:solidFill>
              <a:srgbClr val="E8006A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412480" y="-1371600"/>
            <a:ext cx="5669280" cy="5120640"/>
          </a:xfrm>
          <a:prstGeom prst="roundRect">
            <a:avLst>
              <a:gd name="adj" fmla="val 5357"/>
            </a:avLst>
          </a:prstGeom>
          <a:solidFill>
            <a:srgbClr val="2A7D5B">
              <a:alpha val="10000"/>
            </a:srgbClr>
          </a:solidFill>
          <a:ln w="12700">
            <a:solidFill>
              <a:srgbClr val="2A7D5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5029200"/>
            <a:ext cx="7406640" cy="3108960"/>
          </a:xfrm>
          <a:prstGeom prst="roundRect">
            <a:avLst>
              <a:gd name="adj" fmla="val 8824"/>
            </a:avLst>
          </a:prstGeom>
          <a:solidFill>
            <a:srgbClr val="E5D8C9">
              <a:alpha val="76000"/>
            </a:srgbClr>
          </a:solidFill>
          <a:ln w="12700">
            <a:solidFill>
              <a:srgbClr val="E5D8C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01410"/>
          </a:solidFill>
          <a:ln w="12700">
            <a:solidFill>
              <a:srgbClr val="10141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658368"/>
            <a:ext cx="12191695" cy="0"/>
          </a:xfrm>
          <a:prstGeom prst="line">
            <a:avLst/>
          </a:prstGeom>
          <a:noFill/>
          <a:ln w="12700">
            <a:solidFill>
              <a:srgbClr val="E8006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21792"/>
            <a:ext cx="12191695" cy="0"/>
          </a:xfrm>
          <a:prstGeom prst="line">
            <a:avLst/>
          </a:prstGeom>
          <a:noFill/>
          <a:ln w="12700">
            <a:solidFill>
              <a:srgbClr val="2A7D5B">
                <a:alpha val="76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55448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SOURCIER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914400"/>
            <a:ext cx="786384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F0F0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WORKING SLIDE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457200" y="1600200"/>
            <a:ext cx="89611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6B6B6B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Two-column layout for argument + evidence.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57200" y="2148840"/>
            <a:ext cx="5440680" cy="3977640"/>
          </a:xfrm>
          <a:prstGeom prst="rect">
            <a:avLst/>
          </a:prstGeom>
          <a:solidFill>
            <a:srgbClr val="FFFAF4"/>
          </a:solidFill>
          <a:ln w="12700">
            <a:solidFill>
              <a:srgbClr val="D8C5A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91072" y="2148840"/>
            <a:ext cx="5440680" cy="3977640"/>
          </a:xfrm>
          <a:prstGeom prst="rect">
            <a:avLst/>
          </a:prstGeom>
          <a:solidFill>
            <a:srgbClr val="FFFAF4"/>
          </a:solidFill>
          <a:ln w="12700">
            <a:solidFill>
              <a:srgbClr val="D8C5A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86384" y="2487168"/>
            <a:ext cx="4754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0F0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Argument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786384" y="2971800"/>
            <a:ext cx="4754880" cy="283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0F0F0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- Context and constraint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0F0F0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- Key decision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0F0F0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- Why this approach won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6620256" y="2487168"/>
            <a:ext cx="4754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0F0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Evidence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6620256" y="2971800"/>
            <a:ext cx="4754880" cy="2834640"/>
          </a:xfrm>
          <a:prstGeom prst="roundRect">
            <a:avLst>
              <a:gd name="adj" fmla="val 2581"/>
            </a:avLst>
          </a:prstGeom>
          <a:solidFill>
            <a:srgbClr val="F6ECE1"/>
          </a:solidFill>
          <a:ln w="12700">
            <a:solidFill>
              <a:srgbClr val="D8C5A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0" y="4160520"/>
            <a:ext cx="4297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Drop chart, screenshot, or code snippet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12700">
            <a:solidFill>
              <a:srgbClr val="D7D7D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6473952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sourcier.uk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0744200" y="6473952"/>
            <a:ext cx="1005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[slide number]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EC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920240" y="-1097280"/>
            <a:ext cx="5394960" cy="4480560"/>
          </a:xfrm>
          <a:prstGeom prst="roundRect">
            <a:avLst>
              <a:gd name="adj" fmla="val 6122"/>
            </a:avLst>
          </a:prstGeom>
          <a:solidFill>
            <a:srgbClr val="E8006A">
              <a:alpha val="8000"/>
            </a:srgbClr>
          </a:solidFill>
          <a:ln w="12700">
            <a:solidFill>
              <a:srgbClr val="E8006A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412480" y="-1371600"/>
            <a:ext cx="5669280" cy="5120640"/>
          </a:xfrm>
          <a:prstGeom prst="roundRect">
            <a:avLst>
              <a:gd name="adj" fmla="val 5357"/>
            </a:avLst>
          </a:prstGeom>
          <a:solidFill>
            <a:srgbClr val="2A7D5B">
              <a:alpha val="10000"/>
            </a:srgbClr>
          </a:solidFill>
          <a:ln w="12700">
            <a:solidFill>
              <a:srgbClr val="2A7D5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5029200"/>
            <a:ext cx="7406640" cy="3108960"/>
          </a:xfrm>
          <a:prstGeom prst="roundRect">
            <a:avLst>
              <a:gd name="adj" fmla="val 8824"/>
            </a:avLst>
          </a:prstGeom>
          <a:solidFill>
            <a:srgbClr val="E5D8C9">
              <a:alpha val="76000"/>
            </a:srgbClr>
          </a:solidFill>
          <a:ln w="12700">
            <a:solidFill>
              <a:srgbClr val="E5D8C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01410"/>
          </a:solidFill>
          <a:ln w="12700">
            <a:solidFill>
              <a:srgbClr val="10141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658368"/>
            <a:ext cx="12191695" cy="0"/>
          </a:xfrm>
          <a:prstGeom prst="line">
            <a:avLst/>
          </a:prstGeom>
          <a:noFill/>
          <a:ln w="12700">
            <a:solidFill>
              <a:srgbClr val="E8006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21792"/>
            <a:ext cx="12191695" cy="0"/>
          </a:xfrm>
          <a:prstGeom prst="line">
            <a:avLst/>
          </a:prstGeom>
          <a:noFill/>
          <a:ln w="12700">
            <a:solidFill>
              <a:srgbClr val="2A7D5B">
                <a:alpha val="76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55448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SOURCIER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914400"/>
            <a:ext cx="786384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F0F0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TECHNICAL DECISION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457200" y="1600200"/>
            <a:ext cx="89611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6B6B6B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Frame rationale clearly: problem, constraints, decision, and trade-offs.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57200" y="2057400"/>
            <a:ext cx="11277295" cy="4206240"/>
          </a:xfrm>
          <a:prstGeom prst="roundRect">
            <a:avLst>
              <a:gd name="adj" fmla="val 2174"/>
            </a:avLst>
          </a:prstGeom>
          <a:solidFill>
            <a:srgbClr val="FFFAF4"/>
          </a:solidFill>
          <a:ln w="12700">
            <a:solidFill>
              <a:srgbClr val="D8C5A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2057400"/>
            <a:ext cx="128016" cy="4206240"/>
          </a:xfrm>
          <a:prstGeom prst="rect">
            <a:avLst/>
          </a:prstGeom>
          <a:solidFill>
            <a:srgbClr val="2A7D5B"/>
          </a:solidFill>
          <a:ln w="12700">
            <a:solidFill>
              <a:srgbClr val="2A7D5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49808" y="4114800"/>
            <a:ext cx="10698480" cy="0"/>
          </a:xfrm>
          <a:prstGeom prst="line">
            <a:avLst/>
          </a:prstGeom>
          <a:noFill/>
          <a:ln w="12700">
            <a:solidFill>
              <a:srgbClr val="D8C5A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961888" y="2423160"/>
            <a:ext cx="0" cy="3611880"/>
          </a:xfrm>
          <a:prstGeom prst="line">
            <a:avLst/>
          </a:prstGeom>
          <a:noFill/>
          <a:ln w="12700">
            <a:solidFill>
              <a:srgbClr val="D8C5A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1248" y="246888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006A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01  PROBLEM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41248" y="2788920"/>
            <a:ext cx="484632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0F0F0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What is failing, slow, or expensive today?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54496" y="246888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5A40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02  CONSTRAINTS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254496" y="2788920"/>
            <a:ext cx="484632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0F0F0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Latency, cost, team bandwidth, risk, and deadlines.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41248" y="438912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7D5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03  DECISION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41248" y="4709160"/>
            <a:ext cx="484632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0F0F0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State the chosen approach in one sentence.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254496" y="438912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006A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04  TRADE-OFFS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254496" y="4709160"/>
            <a:ext cx="484632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0F0F0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What you gained, what you gave up, and why it is acceptable.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12700">
            <a:solidFill>
              <a:srgbClr val="D7D7D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57200" y="6473952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sourcier.uk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0744200" y="6473952"/>
            <a:ext cx="1005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[slide number]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EC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920240" y="-1097280"/>
            <a:ext cx="5394960" cy="4480560"/>
          </a:xfrm>
          <a:prstGeom prst="roundRect">
            <a:avLst>
              <a:gd name="adj" fmla="val 6122"/>
            </a:avLst>
          </a:prstGeom>
          <a:solidFill>
            <a:srgbClr val="E8006A">
              <a:alpha val="8000"/>
            </a:srgbClr>
          </a:solidFill>
          <a:ln w="12700">
            <a:solidFill>
              <a:srgbClr val="E8006A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412480" y="-1371600"/>
            <a:ext cx="5669280" cy="5120640"/>
          </a:xfrm>
          <a:prstGeom prst="roundRect">
            <a:avLst>
              <a:gd name="adj" fmla="val 5357"/>
            </a:avLst>
          </a:prstGeom>
          <a:solidFill>
            <a:srgbClr val="2A7D5B">
              <a:alpha val="10000"/>
            </a:srgbClr>
          </a:solidFill>
          <a:ln w="12700">
            <a:solidFill>
              <a:srgbClr val="2A7D5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5029200"/>
            <a:ext cx="7406640" cy="3108960"/>
          </a:xfrm>
          <a:prstGeom prst="roundRect">
            <a:avLst>
              <a:gd name="adj" fmla="val 8824"/>
            </a:avLst>
          </a:prstGeom>
          <a:solidFill>
            <a:srgbClr val="E5D8C9">
              <a:alpha val="76000"/>
            </a:srgbClr>
          </a:solidFill>
          <a:ln w="12700">
            <a:solidFill>
              <a:srgbClr val="E5D8C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01410"/>
          </a:solidFill>
          <a:ln w="12700">
            <a:solidFill>
              <a:srgbClr val="10141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658368"/>
            <a:ext cx="12191695" cy="0"/>
          </a:xfrm>
          <a:prstGeom prst="line">
            <a:avLst/>
          </a:prstGeom>
          <a:noFill/>
          <a:ln w="12700">
            <a:solidFill>
              <a:srgbClr val="E8006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21792"/>
            <a:ext cx="12191695" cy="0"/>
          </a:xfrm>
          <a:prstGeom prst="line">
            <a:avLst/>
          </a:prstGeom>
          <a:noFill/>
          <a:ln w="12700">
            <a:solidFill>
              <a:srgbClr val="2A7D5B">
                <a:alpha val="76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55448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SOURCIER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914400"/>
            <a:ext cx="786384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F0F0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QUOTE LAYOUT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457200" y="1600200"/>
            <a:ext cx="89611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6B6B6B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Ideal for key takeaways and narrative pivots.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1143000" y="2240280"/>
            <a:ext cx="9921240" cy="3063240"/>
          </a:xfrm>
          <a:prstGeom prst="roundRect">
            <a:avLst>
              <a:gd name="adj" fmla="val 2985"/>
            </a:avLst>
          </a:prstGeom>
          <a:solidFill>
            <a:srgbClr val="FFFAF4"/>
          </a:solidFill>
          <a:ln w="12700">
            <a:solidFill>
              <a:srgbClr val="E8006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143000" y="2240280"/>
            <a:ext cx="128016" cy="3063240"/>
          </a:xfrm>
          <a:prstGeom prst="rect">
            <a:avLst/>
          </a:prstGeom>
          <a:solidFill>
            <a:srgbClr val="2A7D5B"/>
          </a:solidFill>
          <a:ln w="12700">
            <a:solidFill>
              <a:srgbClr val="2A7D5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54480" y="2468880"/>
            <a:ext cx="822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dirty="0">
                <a:solidFill>
                  <a:srgbClr val="E8006A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"</a:t>
            </a:r>
            <a:endParaRPr lang="en-US" sz="7200" dirty="0"/>
          </a:p>
        </p:txBody>
      </p:sp>
      <p:sp>
        <p:nvSpPr>
          <p:cNvPr id="14" name="Text 12"/>
          <p:cNvSpPr/>
          <p:nvPr/>
        </p:nvSpPr>
        <p:spPr>
          <a:xfrm>
            <a:off x="2194560" y="3017520"/>
            <a:ext cx="8138160" cy="12801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700" i="1" dirty="0">
                <a:solidFill>
                  <a:srgbClr val="0F0F0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Replace with a strong insight, user quote, or key lesson from the project.</a:t>
            </a:r>
            <a:endParaRPr lang="en-US" sz="2700" dirty="0"/>
          </a:p>
        </p:txBody>
      </p:sp>
      <p:sp>
        <p:nvSpPr>
          <p:cNvPr id="15" name="Text 13"/>
          <p:cNvSpPr/>
          <p:nvPr/>
        </p:nvSpPr>
        <p:spPr>
          <a:xfrm>
            <a:off x="2194560" y="4681728"/>
            <a:ext cx="8138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Attribution / Source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12700">
            <a:solidFill>
              <a:srgbClr val="D7D7D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6473952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sourcier.uk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0744200" y="6473952"/>
            <a:ext cx="1005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[slide number]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EC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920240" y="-1097280"/>
            <a:ext cx="5394960" cy="4480560"/>
          </a:xfrm>
          <a:prstGeom prst="roundRect">
            <a:avLst>
              <a:gd name="adj" fmla="val 6122"/>
            </a:avLst>
          </a:prstGeom>
          <a:solidFill>
            <a:srgbClr val="E8006A">
              <a:alpha val="8000"/>
            </a:srgbClr>
          </a:solidFill>
          <a:ln w="12700">
            <a:solidFill>
              <a:srgbClr val="E8006A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412480" y="-1371600"/>
            <a:ext cx="5669280" cy="5120640"/>
          </a:xfrm>
          <a:prstGeom prst="roundRect">
            <a:avLst>
              <a:gd name="adj" fmla="val 5357"/>
            </a:avLst>
          </a:prstGeom>
          <a:solidFill>
            <a:srgbClr val="2A7D5B">
              <a:alpha val="10000"/>
            </a:srgbClr>
          </a:solidFill>
          <a:ln w="12700">
            <a:solidFill>
              <a:srgbClr val="2A7D5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5029200"/>
            <a:ext cx="7406640" cy="3108960"/>
          </a:xfrm>
          <a:prstGeom prst="roundRect">
            <a:avLst>
              <a:gd name="adj" fmla="val 8824"/>
            </a:avLst>
          </a:prstGeom>
          <a:solidFill>
            <a:srgbClr val="E5D8C9">
              <a:alpha val="76000"/>
            </a:srgbClr>
          </a:solidFill>
          <a:ln w="12700">
            <a:solidFill>
              <a:srgbClr val="E5D8C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01410"/>
          </a:solidFill>
          <a:ln w="12700">
            <a:solidFill>
              <a:srgbClr val="10141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658368"/>
            <a:ext cx="12191695" cy="0"/>
          </a:xfrm>
          <a:prstGeom prst="line">
            <a:avLst/>
          </a:prstGeom>
          <a:noFill/>
          <a:ln w="12700">
            <a:solidFill>
              <a:srgbClr val="E8006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21792"/>
            <a:ext cx="12191695" cy="0"/>
          </a:xfrm>
          <a:prstGeom prst="line">
            <a:avLst/>
          </a:prstGeom>
          <a:noFill/>
          <a:ln w="12700">
            <a:solidFill>
              <a:srgbClr val="2A7D5B">
                <a:alpha val="76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55448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SOURCIER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914400"/>
            <a:ext cx="786384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F0F0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IMAGE + CAPTION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457200" y="1600200"/>
            <a:ext cx="89611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6B6B6B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Use for screenshots, architecture diagrams, or mockups.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731520" y="2011680"/>
            <a:ext cx="10744200" cy="3931920"/>
          </a:xfrm>
          <a:prstGeom prst="rect">
            <a:avLst/>
          </a:prstGeom>
          <a:solidFill>
            <a:srgbClr val="FFFAF4"/>
          </a:solidFill>
          <a:ln w="12700">
            <a:solidFill>
              <a:srgbClr val="D8C5A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2011680"/>
            <a:ext cx="10744200" cy="3931920"/>
          </a:xfrm>
          <a:prstGeom prst="line">
            <a:avLst/>
          </a:prstGeom>
          <a:noFill/>
          <a:ln w="12700">
            <a:solidFill>
              <a:srgbClr val="D7D7D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H="1">
            <a:off x="731520" y="2011680"/>
            <a:ext cx="10744200" cy="3931920"/>
          </a:xfrm>
          <a:prstGeom prst="line">
            <a:avLst/>
          </a:prstGeom>
          <a:noFill/>
          <a:ln w="12700">
            <a:solidFill>
              <a:srgbClr val="D7D7D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92040" y="3867912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Replace with screenshot or diagram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31520" y="6080760"/>
            <a:ext cx="10744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Caption: what this shows and why it matters.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12700">
            <a:solidFill>
              <a:srgbClr val="D7D7D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6473952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sourcier.uk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0744200" y="6473952"/>
            <a:ext cx="1005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[slide number]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014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55280" y="-1645920"/>
            <a:ext cx="5852160" cy="5852160"/>
          </a:xfrm>
          <a:prstGeom prst="roundRect">
            <a:avLst>
              <a:gd name="adj" fmla="val 4688"/>
            </a:avLst>
          </a:prstGeom>
          <a:solidFill>
            <a:srgbClr val="E8006A">
              <a:alpha val="30000"/>
            </a:srgbClr>
          </a:solidFill>
          <a:ln w="12700">
            <a:solidFill>
              <a:srgbClr val="E8006A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418320" y="-731520"/>
            <a:ext cx="4572000" cy="4572000"/>
          </a:xfrm>
          <a:prstGeom prst="roundRect">
            <a:avLst>
              <a:gd name="adj" fmla="val 6000"/>
            </a:avLst>
          </a:prstGeom>
          <a:solidFill>
            <a:srgbClr val="2A7D5B">
              <a:alpha val="18000"/>
            </a:srgbClr>
          </a:solidFill>
          <a:ln w="12700">
            <a:solidFill>
              <a:srgbClr val="2A7D5B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201168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THANK YOU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822960" y="31546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D8D8D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Questions?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822960" y="3840480"/>
            <a:ext cx="4389120" cy="0"/>
          </a:xfrm>
          <a:prstGeom prst="line">
            <a:avLst/>
          </a:prstGeom>
          <a:noFill/>
          <a:ln w="12700">
            <a:solidFill>
              <a:srgbClr val="E8006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4663440"/>
            <a:ext cx="45720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Roger Rajaratnam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" y="4992624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006A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sourcier.uk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Sourcier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Sourcier Blog PowerPoint Template</dc:title>
  <dc:subject>Sourcier presentation template</dc:subject>
  <dc:creator>Sourcier</dc:creator>
  <cp:lastModifiedBy>Sourcier</cp:lastModifiedBy>
  <cp:revision>1</cp:revision>
  <dcterms:created xsi:type="dcterms:W3CDTF">2026-04-20T10:03:19Z</dcterms:created>
  <dcterms:modified xsi:type="dcterms:W3CDTF">2026-04-20T10:03:19Z</dcterms:modified>
</cp:coreProperties>
</file>