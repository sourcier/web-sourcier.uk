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DBDBD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DBDBD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javascriptlondon.com" TargetMode="External"/><Relationship Id="rId2" Type="http://schemas.openxmlformats.org/officeDocument/2006/relationships/hyperlink" Target="https://sourcier.u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sourcier.uk" TargetMode="External"/><Relationship Id="rId2" Type="http://schemas.openxmlformats.org/officeDocument/2006/relationships/hyperlink" Target="https://www.linkedin.com/in/roger-rajaratna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sourcier.uk/blog/playwright-e2e-testing-talk" TargetMode="External"/><Relationship Id="rId2" Type="http://schemas.openxmlformats.org/officeDocument/2006/relationships/hyperlink" Target="https://sourcier.uk" TargetMode="External"/><Relationship Id="rId3" Type="http://schemas.openxmlformats.org/officeDocument/2006/relationships/hyperlink" Target="https://www.linkedin.com/in/roger-rajaratnam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188720"/>
            <a:ext cx="5029200" cy="5029200"/>
          </a:xfrm>
          <a:prstGeom prst="roundRect">
            <a:avLst>
              <a:gd name="adj" fmla="val 5455"/>
            </a:avLst>
          </a:prstGeom>
          <a:solidFill>
            <a:srgbClr val="E8006A">
              <a:alpha val="26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60920" y="-914400"/>
            <a:ext cx="4480560" cy="4480560"/>
          </a:xfrm>
          <a:prstGeom prst="roundRect">
            <a:avLst>
              <a:gd name="adj" fmla="val 6122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920240" y="4480560"/>
            <a:ext cx="4754880" cy="3200400"/>
          </a:xfrm>
          <a:prstGeom prst="roundRect">
            <a:avLst>
              <a:gd name="adj" fmla="val 857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731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1216152"/>
            <a:ext cx="246888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6126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PLAYWRIGHT E2E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TESTING AI SKILLS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731520" y="3493008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Using Playwright and the playwright-explore-website skill to test real user journeys</a:t>
            </a:r>
            <a:endParaRPr lang="en-US" sz="18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731520" y="4133088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JavaScript London talk at NewDay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03720" y="1463040"/>
            <a:ext cx="43891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03720" y="1463040"/>
            <a:ext cx="4389120" cy="384048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31736" y="1572768"/>
            <a:ext cx="73152" cy="73152"/>
          </a:xfrm>
          <a:prstGeom prst="ellipse">
            <a:avLst/>
          </a:prstGeom>
          <a:solidFill>
            <a:srgbClr val="E57373"/>
          </a:solidFill>
          <a:ln w="12700">
            <a:solidFill>
              <a:srgbClr val="E573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8040" y="1572768"/>
            <a:ext cx="73152" cy="73152"/>
          </a:xfrm>
          <a:prstGeom prst="ellipse">
            <a:avLst/>
          </a:prstGeom>
          <a:solidFill>
            <a:srgbClr val="F0C15A"/>
          </a:solidFill>
          <a:ln w="12700">
            <a:solidFill>
              <a:srgbClr val="F0C1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24344" y="1572768"/>
            <a:ext cx="73152" cy="73152"/>
          </a:xfrm>
          <a:prstGeom prst="ellipse">
            <a:avLst/>
          </a:prstGeom>
          <a:solidFill>
            <a:srgbClr val="7FC97F"/>
          </a:solidFill>
          <a:ln w="12700">
            <a:solidFill>
              <a:srgbClr val="7FC9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43800" y="1545336"/>
            <a:ext cx="347472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44968" y="1581912"/>
            <a:ext cx="11887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checkout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59752" y="210312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CHECKOUT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59752" y="24871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Order summary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59752" y="2798064"/>
            <a:ext cx="2011680" cy="73152"/>
          </a:xfrm>
          <a:prstGeom prst="rect">
            <a:avLst/>
          </a:prstGeom>
          <a:solidFill>
            <a:srgbClr val="2D2A3E"/>
          </a:solidFill>
          <a:ln w="12700">
            <a:solidFill>
              <a:srgbClr val="2D2A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59752" y="3108960"/>
            <a:ext cx="2011680" cy="73152"/>
          </a:xfrm>
          <a:prstGeom prst="rect">
            <a:avLst/>
          </a:prstGeom>
          <a:solidFill>
            <a:srgbClr val="D7D7D7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59752" y="3419856"/>
            <a:ext cx="2011680" cy="73152"/>
          </a:xfrm>
          <a:prstGeom prst="rect">
            <a:avLst/>
          </a:prstGeom>
          <a:solidFill>
            <a:srgbClr val="D7D7D7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59752" y="3913632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62088" y="3986784"/>
            <a:ext cx="8229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Place order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3858768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3858768"/>
            <a:ext cx="498348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3968496"/>
            <a:ext cx="45811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exploration prompt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47104" y="4443984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 the playwright-explore-website skill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47104" y="4663440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 https:</a:t>
            </a:r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//staging.example.com.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47104" y="4882896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Explore sign-in, password reset, and checkout.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47104" y="5102352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Document likely locators and expected outcomes.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47104" y="5321808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Draft one candidate Playwright </a:t>
            </a:r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case.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400" dirty="0"/>
          </a:p>
        </p:txBody>
      </p:sp>
      <p:sp>
        <p:nvSpPr>
          <p:cNvPr id="33" name="Text 31">
            <a:hlinkClick r:id="rId2" tooltip=""/>
          </p:cNvPr>
          <p:cNvSpPr/>
          <p:nvPr/>
        </p:nvSpPr>
        <p:spPr>
          <a:xfrm>
            <a:off x="731520" y="62910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sourcier.uk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ABOUT THE SPEAKER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short intro before we get into the browser-testing workflow.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2011680"/>
            <a:ext cx="649224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0" y="2011680"/>
            <a:ext cx="4160520" cy="3611880"/>
          </a:xfrm>
          <a:prstGeom prst="roundRect">
            <a:avLst>
              <a:gd name="adj" fmla="val 3038"/>
            </a:avLst>
          </a:prstGeom>
          <a:solidFill>
            <a:srgbClr val="F6ECE1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2359152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ROGER RAJARATNAM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32688" y="276148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Staff Engineer at NewDay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" y="3200400"/>
            <a:ext cx="5623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 work at NewDay, focusing on technical leadership, delivery, and mentoring.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 write about software engineering, frontend tooling, and pragmatic architecture at sourcier.uk.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This version of the talk keeps the AI part grounded in real browser work instead of blind test generation.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26680" y="235915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Find me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726680" y="2724912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All links below are clickable in the exported deck.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26680" y="3584448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9" name="Text 17">
            <a:hlinkClick r:id="rId1" tooltip=""/>
          </p:cNvPr>
          <p:cNvSpPr/>
          <p:nvPr/>
        </p:nvSpPr>
        <p:spPr>
          <a:xfrm>
            <a:off x="7854696" y="3712464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Website · sourcier.uk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26680" y="4224528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21" name="Text 19">
            <a:hlinkClick r:id="rId2" tooltip=""/>
          </p:cNvPr>
          <p:cNvSpPr/>
          <p:nvPr/>
        </p:nvSpPr>
        <p:spPr>
          <a:xfrm>
            <a:off x="7854696" y="4352544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· /in/roger-rajaratnam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Roger Rajaratnam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WHY AI SHOWS UP HERE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useful part is exploration, not blind test generation.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51560" y="2148840"/>
            <a:ext cx="1005840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"</a:t>
            </a:r>
            <a:endParaRPr lang="en-US" sz="7000" dirty="0"/>
          </a:p>
        </p:txBody>
      </p:sp>
      <p:sp>
        <p:nvSpPr>
          <p:cNvPr id="13" name="Text 11"/>
          <p:cNvSpPr/>
          <p:nvPr/>
        </p:nvSpPr>
        <p:spPr>
          <a:xfrm>
            <a:off x="1920240" y="26974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AI to explore and propose. Use Playwright to automate and verify.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828800" y="4315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humans to decide what is worth keeping. That keeps the browser tests honest.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AI helps before the test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WHERE E2E FITS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Fast, cheap feedback at the base. A few real browser journeys at the top.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2402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Unit tests cover small decisions quickly and cheaply.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Integration tests prove boundaries, contracts, and composed behaviour.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E2E tests protect the user journeys where failure would really hurt.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As cost per test rises, the number of tests should fall.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46520" y="2084832"/>
            <a:ext cx="5166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TEST COUNT FALLS AS COST PER TEST RISES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709160" cy="914400"/>
          </a:xfrm>
          <a:prstGeom prst="roundRect">
            <a:avLst>
              <a:gd name="adj" fmla="val 6000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39128" y="4727448"/>
            <a:ext cx="44897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Many unit tests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739128" y="5047488"/>
            <a:ext cx="4489704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Fast feedback · lowest setup cost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69480" y="3520440"/>
            <a:ext cx="3429000" cy="914400"/>
          </a:xfrm>
          <a:prstGeom prst="roundRect">
            <a:avLst>
              <a:gd name="adj" fmla="val 6000"/>
            </a:avLst>
          </a:prstGeom>
          <a:solidFill>
            <a:srgbClr val="FDEAF2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9208" y="3675888"/>
            <a:ext cx="32095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Some integration tests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379208" y="3995928"/>
            <a:ext cx="3209544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Boundaries · contracts · seams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9288" y="2624328"/>
            <a:ext cx="1929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Few E2E tests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019288" y="2944368"/>
            <a:ext cx="1929384" cy="1463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journeys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92240" y="565099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Confidence and realism go up as you move higher. The number of tests should go down.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Use E2E for critical journeys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THE SKILL DOES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small Copilot skill backed by Playwright MCP and a real browser session.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2148840"/>
            <a:ext cx="5440680" cy="3840480"/>
          </a:xfrm>
          <a:prstGeom prst="roundRect">
            <a:avLst>
              <a:gd name="adj" fmla="val 1905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5352" y="2148840"/>
            <a:ext cx="5440680" cy="3840480"/>
          </a:xfrm>
          <a:prstGeom prst="roundRect">
            <a:avLst>
              <a:gd name="adj" fmla="val 1905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48716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you get back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22960" y="2907792"/>
            <a:ext cx="4572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 walkthrough of a few important user flows in a real browser.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Likely stable locators tied to what is on the page 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Expected outcomes worth asserting.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Candidate test cases before you write the final Playwright file.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65392" y="248716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Example prompt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65392" y="2871216"/>
            <a:ext cx="4590288" cy="1719072"/>
          </a:xfrm>
          <a:prstGeom prst="roundRect">
            <a:avLst>
              <a:gd name="adj" fmla="val 4255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65392" y="2871216"/>
            <a:ext cx="4590288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2980944"/>
            <a:ext cx="418795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playwright-explore-website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03136" y="34564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 the playwright-explore-website skill</a:t>
            </a:r>
            <a:endParaRPr lang="en-US" sz="1010" dirty="0"/>
          </a:p>
        </p:txBody>
      </p:sp>
      <p:sp>
        <p:nvSpPr>
          <p:cNvPr id="20" name="Text 18"/>
          <p:cNvSpPr/>
          <p:nvPr/>
        </p:nvSpPr>
        <p:spPr>
          <a:xfrm>
            <a:off x="6803136" y="366674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 https:</a:t>
            </a:r>
            <a:pPr indent="0" marL="0">
              <a:buNone/>
            </a:pPr>
            <a:r>
              <a:rPr lang="en-US" sz="1010" dirty="0">
                <a:solidFill>
                  <a:srgbClr val="8C8C8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//staging.example.com.</a:t>
            </a:r>
            <a:endParaRPr lang="en-US" sz="1010" dirty="0"/>
          </a:p>
        </p:txBody>
      </p:sp>
      <p:sp>
        <p:nvSpPr>
          <p:cNvPr id="21" name="Text 19"/>
          <p:cNvSpPr/>
          <p:nvPr/>
        </p:nvSpPr>
        <p:spPr>
          <a:xfrm>
            <a:off x="6803136" y="387705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Explore sign-in, password reset, and checkout.</a:t>
            </a:r>
            <a:endParaRPr lang="en-US" sz="1010" dirty="0"/>
          </a:p>
        </p:txBody>
      </p:sp>
      <p:sp>
        <p:nvSpPr>
          <p:cNvPr id="22" name="Text 20"/>
          <p:cNvSpPr/>
          <p:nvPr/>
        </p:nvSpPr>
        <p:spPr>
          <a:xfrm>
            <a:off x="6803136" y="408736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Document likely stable locators and expected outcomes.</a:t>
            </a:r>
            <a:endParaRPr lang="en-US" sz="1010" dirty="0"/>
          </a:p>
        </p:txBody>
      </p:sp>
      <p:sp>
        <p:nvSpPr>
          <p:cNvPr id="23" name="Text 21"/>
          <p:cNvSpPr/>
          <p:nvPr/>
        </p:nvSpPr>
        <p:spPr>
          <a:xfrm>
            <a:off x="6803136" y="429768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Draft one candidate Playwright </a:t>
            </a:r>
            <a:pPr indent="0" marL="0">
              <a:buNone/>
            </a:pPr>
            <a:r>
              <a:rPr lang="en-US" sz="101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01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case.</a:t>
            </a:r>
            <a:endParaRPr lang="en-US" sz="1010" dirty="0"/>
          </a:p>
        </p:txBody>
      </p:sp>
      <p:sp>
        <p:nvSpPr>
          <p:cNvPr id="24" name="Shape 22"/>
          <p:cNvSpPr/>
          <p:nvPr/>
        </p:nvSpPr>
        <p:spPr>
          <a:xfrm>
            <a:off x="6565392" y="4828032"/>
            <a:ext cx="4590288" cy="822960"/>
          </a:xfrm>
          <a:prstGeom prst="roundRect">
            <a:avLst>
              <a:gd name="adj" fmla="val 8889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84848" y="5093208"/>
            <a:ext cx="4151376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Output: flows · locators · expected outcomes · candidate tests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Explore first, automate second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WHY PLAYWRIGHT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pragmatic default for browser automation and browser-based exploration.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2240280"/>
            <a:ext cx="5623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Cross-browser support out of the box: Chromium, Firefox, and WebKit.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Auto-waiting removes most timing hacks and sleep calls.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TypeScript-first APIs with a clean test runner.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Playwright MCP gives Copilot a real browser to inspect instead of guessing.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Codegen gives you a fast starting point for real flows.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Trace Viewer makes CI failures debuggable instead of mysterious.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629400" y="2148840"/>
            <a:ext cx="4663440" cy="1874520"/>
          </a:xfrm>
          <a:prstGeom prst="roundRect">
            <a:avLst>
              <a:gd name="adj" fmla="val 3902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29400" y="2148840"/>
            <a:ext cx="466344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0568" y="2258568"/>
            <a:ext cx="42611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getting started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67144" y="273405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create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playwright@latest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67144" y="300837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codegen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https://your-app.example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67144" y="32826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67144" y="355701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show-trace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trace.zip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29400" y="4251960"/>
            <a:ext cx="4663440" cy="1417320"/>
          </a:xfrm>
          <a:prstGeom prst="roundRect">
            <a:avLst>
              <a:gd name="adj" fmla="val 5161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4526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Honest comparison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903720" y="4828032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Cypress is also good. Playwright pulls ahead when you need multi-browser coverage, multiple tabs, or better debugging in CI.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Tooling should reduce friction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EXPLORATION AND CODEGEN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They solve different problems, and you will usually want both.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5532120" cy="4160520"/>
          </a:xfrm>
          <a:prstGeom prst="roundRect">
            <a:avLst>
              <a:gd name="adj" fmla="val 1758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44768" y="2011680"/>
            <a:ext cx="5532120" cy="4160520"/>
          </a:xfrm>
          <a:prstGeom prst="roundRect">
            <a:avLst>
              <a:gd name="adj" fmla="val 1758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331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Explore with the skill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04672" y="2743200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Map the journey before you commit to code.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Capture likely locators and expected outcomes.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Use it when the product area is unfamiliar or the bug report is vague.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This is where the AI work earns its keep.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46520" y="2331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Reach for codegen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46520" y="274320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Capture a quick action scaffold once you understand the journey.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Use it for awkward flows and raw selector hints.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Rewrite the generated result so the test reads like a real scenario.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Exploration gives testing intent. Codegen gives interaction history.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46520" y="4709160"/>
            <a:ext cx="4709160" cy="1005840"/>
          </a:xfrm>
          <a:prstGeom prst="roundRect">
            <a:avLst>
              <a:gd name="adj" fmla="val 7273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4709160"/>
            <a:ext cx="470916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47688" y="4818888"/>
            <a:ext cx="430682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quick scaffold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84264" y="5294376"/>
            <a:ext cx="4233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create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playwright@latest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684264" y="5532120"/>
            <a:ext cx="4233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codegen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05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https://your-app.example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4672" y="5532120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the skill to explore first. Use codegen when you need a fast scaffold. Clean up the final test yourself.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Exploration gives testing intent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KEEP YOUR TESTS HONEST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Flaky tests are a trust problem before they are a tooling problem.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02920" y="20574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4251960"/>
            <a:ext cx="5394960" cy="1645920"/>
          </a:xfrm>
          <a:prstGeom prst="roundRect">
            <a:avLst>
              <a:gd name="adj" fmla="val 4444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2057400"/>
            <a:ext cx="5440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3774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Avoid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waitForTimeout and arbitrary sleeps.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Selectors tied to styling classes.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Shared test data and leaked state.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Rule of thumb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If you need `waitForTimeout(2000)`, assume the test still isn't stable. Find the real signal to wait on instead.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537960" y="2331720"/>
            <a:ext cx="4846320" cy="3063240"/>
          </a:xfrm>
          <a:prstGeom prst="roundRect">
            <a:avLst>
              <a:gd name="adj" fmla="val 2388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331720"/>
            <a:ext cx="484632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39128" y="2441448"/>
            <a:ext cx="44439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better waiting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75704" y="291693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.getByRole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"button"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{ name: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"Pay now"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})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.click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75704" y="319125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expect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.getByText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"Payment complete"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.toBeVisible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75704" y="346557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75704" y="373989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when you really need explicit waits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75704" y="401421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.waitForURL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"**/confirmation"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75704" y="428853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.waitForResponse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/api\/orders/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Reliability beats raw test count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MAKE CHANGE CHEAPER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Stable selectors and small page objects keep suites alive.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2240280"/>
            <a:ext cx="5257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Use accessible locators first: role, label, 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Add `data-testid` only when the UI has no good semantic handle.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Extract repeated actions into page objects once two or three tests share them.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The goal is readable tests and one place to change selectors.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20574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2057400"/>
            <a:ext cx="507492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10528" y="2167128"/>
            <a:ext cx="4672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pages/LoginPage.ts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47104" y="264261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LoginPage {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47104" y="291693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constructor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(page) {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= page; }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47104" y="319125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email =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.getByLabel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"Email"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47104" y="346557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password =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.getByLabel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"Password"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47104" y="373989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submit =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.getByTestId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"login-submit"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47104" y="401421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login(email, password) {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47104" y="428853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.email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.fill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(email);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47104" y="456285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.password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.fill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(password);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47104" y="483717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.submit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.click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47104" y="511149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}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47104" y="538581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Maintainability is part of test quality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RUN IN CI. DEBUG WITH TRACES.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When a remote test fails, you need evidence, not guesses.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224028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Run headless in CI and save traces on failure or retry.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The trace captures clicks, screenshots, console, network, and timing.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Open it locally and replay the failure like a black box recorder.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This is where Playwright feels better than many older tools.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2148840"/>
            <a:ext cx="5166360" cy="3566160"/>
          </a:xfrm>
          <a:prstGeom prst="roundRect">
            <a:avLst>
              <a:gd name="adj" fmla="val 2051"/>
            </a:avLst>
          </a:prstGeom>
          <a:solidFill>
            <a:srgbClr val="F6ECE1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56832" y="26060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48272" y="278892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Failing test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0" y="26060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78892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Trace artifact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802368" y="26060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93808" y="278892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 locally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74152" y="2761488"/>
            <a:ext cx="201168" cy="292608"/>
          </a:xfrm>
          <a:prstGeom prst="chevron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46920" y="2761488"/>
            <a:ext cx="201168" cy="292608"/>
          </a:xfrm>
          <a:prstGeom prst="chevron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29400" y="3794760"/>
            <a:ext cx="4526280" cy="1417320"/>
          </a:xfrm>
          <a:prstGeom prst="roundRect">
            <a:avLst>
              <a:gd name="adj" fmla="val 5161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29400" y="3794760"/>
            <a:ext cx="452628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0568" y="3904488"/>
            <a:ext cx="41239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debugging commands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67144" y="4379976"/>
            <a:ext cx="4050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--trace=on-first-retry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67144" y="4654296"/>
            <a:ext cx="4050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show-trace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trace.zip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CI failures should be inspectable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645920"/>
            <a:ext cx="5852160" cy="5852160"/>
          </a:xfrm>
          <a:prstGeom prst="roundRect">
            <a:avLst>
              <a:gd name="adj" fmla="val 4688"/>
            </a:avLst>
          </a:prstGeom>
          <a:solidFill>
            <a:srgbClr val="E8006A">
              <a:alpha val="30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17320"/>
            <a:ext cx="6675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START WITH ONE FLOW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Three things to do on Monday: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Pick one risky user journey.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3593592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Explore it with playwright-explore-website.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12394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Turn the best path into one clean Playwright test.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4983480"/>
            <a:ext cx="438912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2303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0" y="4526280"/>
            <a:ext cx="384048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71232" y="4773168"/>
            <a:ext cx="332841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Read the companion article</a:t>
            </a:r>
            <a:endParaRPr lang="en-US" sz="22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7571232" y="5120640"/>
            <a:ext cx="3328416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sourcier.uk/blog/playwright-e2e-testing-talk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589788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6199632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sourcier.uk</a:t>
            </a:r>
            <a:pPr indent="0" marL="0">
              <a:buNone/>
            </a:pPr>
            <a:r>
              <a:rPr lang="en-US" sz="1400" dirty="0">
                <a:solidFill>
                  <a:srgbClr val="C9C9C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·  </a:t>
            </a:r>
            <a:pPr indent="0" marL="0">
              <a:buNone/>
            </a:pPr>
            <a:r>
              <a:rPr lang="en-US" sz="14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DBDBD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Sourcier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Playwright E2E testing AI skills</dc:title>
  <dc:subject>JavaScript London talk on using Playwright and GitHub Copilot skills for E2E testing and browser exploration</dc:subject>
  <dc:creator>Roger Rajaratnam</dc:creator>
  <cp:lastModifiedBy>Roger Rajaratnam</cp:lastModifiedBy>
  <cp:revision>1</cp:revision>
  <dcterms:created xsi:type="dcterms:W3CDTF">2026-04-20T11:47:19Z</dcterms:created>
  <dcterms:modified xsi:type="dcterms:W3CDTF">2026-04-20T11:47:19Z</dcterms:modified>
</cp:coreProperties>
</file>