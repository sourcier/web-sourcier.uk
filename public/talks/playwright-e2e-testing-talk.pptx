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DBDBD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DBDBD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meetup.com/javascript-london/" TargetMode="External"/><Relationship Id="rId2" Type="http://schemas.openxmlformats.org/officeDocument/2006/relationships/hyperlink" Target="https://sourcier.u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sourcier.uk" TargetMode="External"/><Relationship Id="rId2" Type="http://schemas.openxmlformats.org/officeDocument/2006/relationships/hyperlink" Target="https://www.linkedin.com/in/roger-rajaratna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sourcier.uk" TargetMode="External"/><Relationship Id="rId2" Type="http://schemas.openxmlformats.org/officeDocument/2006/relationships/hyperlink" Target="https://www.linkedin.com/in/roger-rajaratna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188720"/>
            <a:ext cx="5029200" cy="5029200"/>
          </a:xfrm>
          <a:prstGeom prst="roundRect">
            <a:avLst>
              <a:gd name="adj" fmla="val 5455"/>
            </a:avLst>
          </a:prstGeom>
          <a:solidFill>
            <a:srgbClr val="E8006A">
              <a:alpha val="26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920240" y="4480560"/>
            <a:ext cx="4754880" cy="3200400"/>
          </a:xfrm>
          <a:prstGeom prst="roundRect">
            <a:avLst>
              <a:gd name="adj" fmla="val 8571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315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2468880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2880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SHIP WITH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CONFIDENCE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5E5E5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End-to-end testing with Playwright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822192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9C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10-minute intro for junior and mid-level engineers</a:t>
            </a:r>
            <a:endParaRPr lang="en-US" sz="14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731520" y="413308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JavaScript London · April 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03720" y="1463040"/>
            <a:ext cx="43891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03720" y="1463040"/>
            <a:ext cx="4389120" cy="384048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31736" y="1572768"/>
            <a:ext cx="73152" cy="73152"/>
          </a:xfrm>
          <a:prstGeom prst="ellipse">
            <a:avLst/>
          </a:prstGeom>
          <a:solidFill>
            <a:srgbClr val="E57373"/>
          </a:solidFill>
          <a:ln w="12700">
            <a:solidFill>
              <a:srgbClr val="E573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78040" y="1572768"/>
            <a:ext cx="73152" cy="73152"/>
          </a:xfrm>
          <a:prstGeom prst="ellipse">
            <a:avLst/>
          </a:prstGeom>
          <a:solidFill>
            <a:srgbClr val="F0C15A"/>
          </a:solidFill>
          <a:ln w="12700">
            <a:solidFill>
              <a:srgbClr val="F0C1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24344" y="1572768"/>
            <a:ext cx="73152" cy="73152"/>
          </a:xfrm>
          <a:prstGeom prst="ellipse">
            <a:avLst/>
          </a:prstGeom>
          <a:solidFill>
            <a:srgbClr val="7FC97F"/>
          </a:solidFill>
          <a:ln w="12700">
            <a:solidFill>
              <a:srgbClr val="7FC97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43800" y="1545336"/>
            <a:ext cx="347472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44968" y="1581912"/>
            <a:ext cx="11887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checkout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159752" y="210312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CHECKOUT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159752" y="2487168"/>
            <a:ext cx="16459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Order summary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59752" y="2798064"/>
            <a:ext cx="2011680" cy="73152"/>
          </a:xfrm>
          <a:prstGeom prst="rect">
            <a:avLst/>
          </a:prstGeom>
          <a:solidFill>
            <a:srgbClr val="2D2A3E"/>
          </a:solidFill>
          <a:ln w="12700">
            <a:solidFill>
              <a:srgbClr val="2D2A3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59752" y="3108960"/>
            <a:ext cx="2011680" cy="73152"/>
          </a:xfrm>
          <a:prstGeom prst="rect">
            <a:avLst/>
          </a:prstGeom>
          <a:solidFill>
            <a:srgbClr val="D7D7D7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59752" y="3419856"/>
            <a:ext cx="2011680" cy="73152"/>
          </a:xfrm>
          <a:prstGeom prst="rect">
            <a:avLst/>
          </a:prstGeom>
          <a:solidFill>
            <a:srgbClr val="D7D7D7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59752" y="3913632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62088" y="3986784"/>
            <a:ext cx="82296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Place order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3858768"/>
            <a:ext cx="4983480" cy="1783080"/>
          </a:xfrm>
          <a:prstGeom prst="roundRect">
            <a:avLst>
              <a:gd name="adj" fmla="val 4103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3858768"/>
            <a:ext cx="4983480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0528" y="3968496"/>
            <a:ext cx="45811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playwright test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547104" y="4443984"/>
            <a:ext cx="45079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test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"checkout works"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async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({ page }) =&gt; {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47104" y="4663440"/>
            <a:ext cx="45079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page</a:t>
            </a:r>
            <a:pPr indent="0" marL="0">
              <a:buNone/>
            </a:pPr>
            <a:r>
              <a:rPr lang="en-US" sz="105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.goto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"/checkout"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547104" y="4882896"/>
            <a:ext cx="45079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page</a:t>
            </a:r>
            <a:pPr indent="0" marL="0">
              <a:buNone/>
            </a:pPr>
            <a:r>
              <a:rPr lang="en-US" sz="105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.getByRole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"button"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547104" y="5102352"/>
            <a:ext cx="45079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{ name: </a:t>
            </a:r>
            <a:pPr indent="0" marL="0">
              <a:buNone/>
            </a:pPr>
            <a:r>
              <a:rPr lang="en-US" sz="105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"Place order"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})</a:t>
            </a:r>
            <a:pPr indent="0" marL="0">
              <a:buNone/>
            </a:pPr>
            <a:r>
              <a:rPr lang="en-US" sz="105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.click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();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47104" y="5321808"/>
            <a:ext cx="45079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05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expect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(page</a:t>
            </a:r>
            <a:pPr indent="0" marL="0">
              <a:buNone/>
            </a:pPr>
            <a:r>
              <a:rPr lang="en-US" sz="105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.getByText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"Order confirmed"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))</a:t>
            </a:r>
            <a:pPr indent="0" marL="0">
              <a:buNone/>
            </a:pPr>
            <a:r>
              <a:rPr lang="en-US" sz="105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.toBeVisible</a:t>
            </a:r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();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47104" y="5541264"/>
            <a:ext cx="450799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});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31520" y="5989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5E5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Roger Rajaratnam</a:t>
            </a:r>
            <a:endParaRPr lang="en-US" sz="1400" dirty="0"/>
          </a:p>
        </p:txBody>
      </p:sp>
      <p:sp>
        <p:nvSpPr>
          <p:cNvPr id="34" name="Text 32">
            <a:hlinkClick r:id="rId2" tooltip=""/>
          </p:cNvPr>
          <p:cNvSpPr/>
          <p:nvPr/>
        </p:nvSpPr>
        <p:spPr>
          <a:xfrm>
            <a:off x="731520" y="629107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sourcier.uk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ABOUT THE SPEAKER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short intro before we get into the testing trade-offs.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649224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06640" y="2011680"/>
            <a:ext cx="4160520" cy="3611880"/>
          </a:xfrm>
          <a:prstGeom prst="roundRect">
            <a:avLst>
              <a:gd name="adj" fmla="val 3038"/>
            </a:avLst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2359152"/>
            <a:ext cx="4297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ROGER RAJARATNAM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932688" y="2761488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Staff Engineer at NewDay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32688" y="3200400"/>
            <a:ext cx="5623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I work at NewDay, focusing on technical leadership, delivery, and mentoring.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I write about software engineering, frontend tooling, and pragmatic architecture at sourcier.uk.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This version of the talk is for JavaScript London, so I am keeping it practical and beginner-friendly.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26680" y="2359152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Find me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726680" y="2724912"/>
            <a:ext cx="3337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All links below are clickable in the exported deck.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26680" y="3584448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5" name="Text 13">
            <a:hlinkClick r:id="rId1" tooltip=""/>
          </p:cNvPr>
          <p:cNvSpPr/>
          <p:nvPr/>
        </p:nvSpPr>
        <p:spPr>
          <a:xfrm>
            <a:off x="7854696" y="3712464"/>
            <a:ext cx="3218688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u="sng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Website · sourcier.uk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26680" y="4224528"/>
            <a:ext cx="347472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7" name="Text 15">
            <a:hlinkClick r:id="rId2" tooltip=""/>
          </p:cNvPr>
          <p:cNvSpPr/>
          <p:nvPr/>
        </p:nvSpPr>
        <p:spPr>
          <a:xfrm>
            <a:off x="7854696" y="4352544"/>
            <a:ext cx="3218688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u="sng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· /in/roger-rajaratnam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Roger Rajaratnam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THE BUG UNIT TESTS CAN'T FIND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Users experience the assembled product, not the isolated parts.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51560" y="2148840"/>
            <a:ext cx="1005840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331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"</a:t>
            </a:r>
            <a:endParaRPr lang="en-US" sz="7000" dirty="0"/>
          </a:p>
        </p:txBody>
      </p:sp>
      <p:sp>
        <p:nvSpPr>
          <p:cNvPr id="9" name="Text 7"/>
          <p:cNvSpPr/>
          <p:nvPr/>
        </p:nvSpPr>
        <p:spPr>
          <a:xfrm>
            <a:off x="1920240" y="28346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All your unit tests pass. Your users are still angry.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828800" y="425196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E2E tests answer a different question: can a real user complete the journey in a real browser?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End-to-end testing with Playwright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WHERE E2E FITS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few high-signal tests at the top of the pyramid.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Unit tests check small pieces quickly.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Integration tests check boundaries and contracts.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E2E tests protect the journeys users actually depend 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Aim for risk coverage, not blanket coverage.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0" y="4526280"/>
            <a:ext cx="3520440" cy="713232"/>
          </a:xfrm>
          <a:prstGeom prst="roundRect">
            <a:avLst>
              <a:gd name="adj" fmla="val 7692"/>
            </a:avLst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24928" y="4727448"/>
            <a:ext cx="33009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Many unit tests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26680" y="3657600"/>
            <a:ext cx="2697480" cy="713232"/>
          </a:xfrm>
          <a:prstGeom prst="roundRect">
            <a:avLst>
              <a:gd name="adj" fmla="val 7692"/>
            </a:avLst>
          </a:prstGeom>
          <a:solidFill>
            <a:srgbClr val="FDEAF2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36408" y="3858768"/>
            <a:ext cx="24780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Some integration tests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138160" y="2788920"/>
            <a:ext cx="1874520" cy="713232"/>
          </a:xfrm>
          <a:prstGeom prst="roundRect">
            <a:avLst>
              <a:gd name="adj" fmla="val 7692"/>
            </a:avLst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7888" y="2990088"/>
            <a:ext cx="16550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Few E2E tests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20840" y="5440680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Protect the 3-5 paths where failure would actually hurt users.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Use E2E for critical journeys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WHAT E2E SEES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browser runtime is where the seams show.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54406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45352" y="2148840"/>
            <a:ext cx="54406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8716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Great At Catching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22960" y="2907792"/>
            <a:ext cx="4572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Broken auth and redirect flows.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Forms that submit the wrong thing or nothing at all.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Buttons hidden by banners, overlays, or layout regressions.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Browser-specific navigation and storage issues.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65392" y="248716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Better Covered Elsewhere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565392" y="2907792"/>
            <a:ext cx="4572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Business rules and algorithm edge cases.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Small component state changes.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Pure validation logic.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Anything a unit test can check in seconds.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E2E covers journeys, not everything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WHY PLAYWRIGHT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pragmatic default for modern browser automation.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5623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Cross-browser support out of the box: Chromium, Firefox, and WebKit.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Auto-waiting removes most timing hacks and sleep calls.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TypeScript-first APIs with a clean test runner.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Codegen gives you a fast starting point for real flows.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Trace Viewer makes CI failures debuggable instead of mysterious.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629400" y="2148840"/>
            <a:ext cx="4663440" cy="1874520"/>
          </a:xfrm>
          <a:prstGeom prst="roundRect">
            <a:avLst>
              <a:gd name="adj" fmla="val 3902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29400" y="2148840"/>
            <a:ext cx="4663440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30568" y="2258568"/>
            <a:ext cx="426110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getting started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67144" y="273405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create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playwright@latest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67144" y="300837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67144" y="3282696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show-trace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trace.zip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29400" y="4251960"/>
            <a:ext cx="4663440" cy="1417320"/>
          </a:xfrm>
          <a:prstGeom prst="roundRect">
            <a:avLst>
              <a:gd name="adj" fmla="val 5161"/>
            </a:avLst>
          </a:prstGeom>
          <a:solidFill>
            <a:srgbClr val="FDEAF2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4526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Honest comparison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03720" y="4828032"/>
            <a:ext cx="4069080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Cypress is also good. Playwright pulls ahead when you need multi-browser coverage, multiple tabs, or better debugging in CI.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Tooling should reduce friction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YOUR FIRST USEFUL TEST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Assert the outcome a real user cares about.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6812280" cy="4160520"/>
          </a:xfrm>
          <a:prstGeom prst="roundRect">
            <a:avLst>
              <a:gd name="adj" fmla="val 1758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011680"/>
            <a:ext cx="6812280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121408"/>
            <a:ext cx="64099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tests/newsletter.spec.ts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0664" y="2596896"/>
            <a:ext cx="6336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import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{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test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expect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}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from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"@playwright/test"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;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0664" y="2871216"/>
            <a:ext cx="6336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0664" y="3145536"/>
            <a:ext cx="6336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test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"newsletter signup works"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({ page }) =&gt; {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0664" y="3419856"/>
            <a:ext cx="6336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.goto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"/newsletter"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0664" y="3694176"/>
            <a:ext cx="6336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.getByLabel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"Email"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.fill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"alice@example.com"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0664" y="3968496"/>
            <a:ext cx="6336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.getByRole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"button"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 { name: 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"Subscribe"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})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.click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();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0664" y="4242816"/>
            <a:ext cx="6336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expect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.getByText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"Check your inbox"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))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.toBeVisible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();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0664" y="4517136"/>
            <a:ext cx="6336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});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07808" y="2011680"/>
            <a:ext cx="4069080" cy="4160520"/>
          </a:xfrm>
          <a:prstGeom prst="roundRect">
            <a:avLst>
              <a:gd name="adj" fmla="val 1798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09560" y="23317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What to notice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909560" y="2743200"/>
            <a:ext cx="32918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Use role and label locators first.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Let Playwright wait for the element to be actionable.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Assert the visible success state, not an implementation detail.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If the test reads like a user journey, you're on the right track.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909560" y="5468112"/>
            <a:ext cx="3154680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09560" y="5577840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No sleeps. No brittle CSS selectors. No hidden implementation coupling.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Start with one realistic journey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KEEP YOUR TESTS HONEST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Flaky tests are a trust problem before they are a tooling problem.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4251960"/>
            <a:ext cx="5394960" cy="1645920"/>
          </a:xfrm>
          <a:prstGeom prst="roundRect">
            <a:avLst>
              <a:gd name="adj" fmla="val 4444"/>
            </a:avLst>
          </a:prstGeom>
          <a:solidFill>
            <a:srgbClr val="FDEAF2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6208" y="2057400"/>
            <a:ext cx="544068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774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Avoid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waitForTimeout and arbitrary sleeps.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Selectors tied to styling classes.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Shared test data and leaked state.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455371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Rule of thumb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22960" y="4892040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If you need `waitForTimeout(2000)`, assume the test still isn't stable. Find the real signal to wait on instead.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537960" y="2331720"/>
            <a:ext cx="4846320" cy="3063240"/>
          </a:xfrm>
          <a:prstGeom prst="roundRect">
            <a:avLst>
              <a:gd name="adj" fmla="val 2388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37960" y="2331720"/>
            <a:ext cx="4846320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39128" y="2441448"/>
            <a:ext cx="44439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better waiting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75704" y="2916936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.getByRole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"button"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 { name: 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"Pay now"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})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.click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();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775704" y="3191256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expect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.getByText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"Payment complete"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))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.toBeVisible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();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75704" y="3465576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75704" y="3739896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when you really need explicit waits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75704" y="4014216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.waitForURL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"**/confirmation"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75704" y="4288536"/>
            <a:ext cx="4370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.waitForResponse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/api\/orders/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Reliability beats raw test count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MAKE CHANGE CHEAPER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Stable selectors and small page objects keep suites alive.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5257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Use accessible locators first: role, label, 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Add `data-testid` only when the UI has no good semantic handle.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Extract repeated actions into page objects once two or three tests share them.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The goal is readable tests and one place to change selectors.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2057400"/>
            <a:ext cx="5074920" cy="4160520"/>
          </a:xfrm>
          <a:prstGeom prst="roundRect">
            <a:avLst>
              <a:gd name="adj" fmla="val 1758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2057400"/>
            <a:ext cx="5074920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0528" y="2167128"/>
            <a:ext cx="4672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pages/LoginPage.ts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47104" y="264261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export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LoginPage {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47104" y="291693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constructor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(page) {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.page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= page; }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47104" y="319125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email =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.getByLabel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"Email"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47104" y="346557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password =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.getByLabel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"Password"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47104" y="373989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submit =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.page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.getByTestId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"login-submit"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);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47104" y="401421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login(email, password) {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47104" y="428853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.email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.fill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(email);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47104" y="456285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.password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.fill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(password);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47104" y="483717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this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.submit</a:t>
            </a:r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.click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();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47104" y="511149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}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47104" y="5385816"/>
            <a:ext cx="4599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Maintainability is part of test quality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RUN IN CI. DEBUG WITH TRACES.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950976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When a remote test fails, you need evidence, not guesses.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5212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Run headless in CI and save traces on failure or retry.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The trace captures clicks, screenshots, console, network, and timing.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Open it locally and replay the failure like a black box recorder.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This is where Playwright feels better than many older tools.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2148840"/>
            <a:ext cx="5166360" cy="3566160"/>
          </a:xfrm>
          <a:prstGeom prst="roundRect">
            <a:avLst>
              <a:gd name="adj" fmla="val 2051"/>
            </a:avLst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56832" y="26060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48272" y="2788920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Failing test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26060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DEAF2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2788920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Trace artifact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802368" y="26060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93808" y="2788920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Open locally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74152" y="2761488"/>
            <a:ext cx="201168" cy="292608"/>
          </a:xfrm>
          <a:prstGeom prst="chevron">
            <a:avLst/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46920" y="2761488"/>
            <a:ext cx="201168" cy="292608"/>
          </a:xfrm>
          <a:prstGeom prst="chevron">
            <a:avLst/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9400" y="3794760"/>
            <a:ext cx="4526280" cy="1417320"/>
          </a:xfrm>
          <a:prstGeom prst="roundRect">
            <a:avLst>
              <a:gd name="adj" fmla="val 5161"/>
            </a:avLst>
          </a:prstGeom>
          <a:solidFill>
            <a:srgbClr val="121212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29400" y="3794760"/>
            <a:ext cx="4526280" cy="420624"/>
          </a:xfrm>
          <a:prstGeom prst="rect">
            <a:avLst/>
          </a:prstGeom>
          <a:solidFill>
            <a:srgbClr val="1B1B1B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0568" y="3904488"/>
            <a:ext cx="41239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D9D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debugging commands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67144" y="4379976"/>
            <a:ext cx="4050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test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58AC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--trace=on-first-retry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67144" y="4654296"/>
            <a:ext cx="4050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8BD6C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playwright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show-trace</a:t>
            </a:r>
            <a:pPr indent="0" marL="0">
              <a:buNone/>
            </a:pPr>
            <a:r>
              <a:rPr lang="en-US" sz="1200" dirty="0">
                <a:solidFill>
                  <a:srgbClr val="EFEFE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0C15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trace.zip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6473952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 / CI failures should be inspectable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B6B6B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1645920"/>
            <a:ext cx="5852160" cy="5852160"/>
          </a:xfrm>
          <a:prstGeom prst="roundRect">
            <a:avLst>
              <a:gd name="adj" fmla="val 4688"/>
            </a:avLst>
          </a:prstGeom>
          <a:solidFill>
            <a:srgbClr val="E8006A">
              <a:alpha val="30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46304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START SMALL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D8D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Three things to do on Monday: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306324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Pick one critical user journey.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3593592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Use semantic locators before brittle selectors.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4123944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• Treat flaky tests as bugs, not background noise.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" y="4983480"/>
            <a:ext cx="4389120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2303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D8D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5897880"/>
            <a:ext cx="4572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Roger Rajaratnam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6199632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sourcier.uk</a:t>
            </a:r>
            <a:pPr indent="0" marL="0">
              <a:buNone/>
            </a:pPr>
            <a:r>
              <a:rPr lang="en-US" sz="1400" dirty="0">
                <a:solidFill>
                  <a:srgbClr val="C9C9C9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 ·  </a:t>
            </a:r>
            <a:pPr indent="0" marL="0">
              <a:buNone/>
            </a:pPr>
            <a:r>
              <a:rPr lang="en-US" sz="1400" u="sng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44200" y="6473952"/>
            <a:ext cx="10058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BDBDBD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Sourcier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Ship With Confidence: End-to-End Testing With Playwright</dc:title>
  <dc:subject>10 minute talk on end-to-end testing with Playwright for JavaScript London</dc:subject>
  <dc:creator>Roger Rajaratnam</dc:creator>
  <cp:lastModifiedBy>Roger Rajaratnam</cp:lastModifiedBy>
  <cp:revision>1</cp:revision>
  <dcterms:created xsi:type="dcterms:W3CDTF">2026-04-15T20:34:33Z</dcterms:created>
  <dcterms:modified xsi:type="dcterms:W3CDTF">2026-04-15T20:34:33Z</dcterms:modified>
</cp:coreProperties>
</file>