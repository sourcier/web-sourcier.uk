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DBDBD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DBDBD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avascriptlondon.com" TargetMode="External"/><Relationship Id="rId2" Type="http://schemas.openxmlformats.org/officeDocument/2006/relationships/hyperlink" Target="https://sourcier.u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ourcier.uk" TargetMode="External"/><Relationship Id="rId2" Type="http://schemas.openxmlformats.org/officeDocument/2006/relationships/hyperlink" Target="https://www.linkedin.com/in/roger-rajaratna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sourcier.uk/blog/playwright-e2e-testing-talk" TargetMode="External"/><Relationship Id="rId2" Type="http://schemas.openxmlformats.org/officeDocument/2006/relationships/hyperlink" Target="https://sourcier.uk" TargetMode="External"/><Relationship Id="rId3" Type="http://schemas.openxmlformats.org/officeDocument/2006/relationships/hyperlink" Target="https://www.linkedin.com/in/roger-rajaratna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188720"/>
            <a:ext cx="5029200" cy="5029200"/>
          </a:xfrm>
          <a:prstGeom prst="roundRect">
            <a:avLst>
              <a:gd name="adj" fmla="val 5455"/>
            </a:avLst>
          </a:prstGeom>
          <a:solidFill>
            <a:srgbClr val="E8006A">
              <a:alpha val="26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-914400"/>
            <a:ext cx="4480560" cy="4480560"/>
          </a:xfrm>
          <a:prstGeom prst="roundRect">
            <a:avLst>
              <a:gd name="adj" fmla="val 6122"/>
            </a:avLst>
          </a:prstGeom>
          <a:solidFill>
            <a:srgbClr val="2A7D5B">
              <a:alpha val="18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4480560"/>
            <a:ext cx="4754880" cy="3200400"/>
          </a:xfrm>
          <a:prstGeom prst="roundRect">
            <a:avLst>
              <a:gd name="adj" fmla="val 857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216152"/>
            <a:ext cx="2468880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PLAYWRIGHT E2E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TESTING AI SKILLS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731520" y="3493008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5E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Using Playwright and the playwright-explore-website skill to test real user journeys</a:t>
            </a:r>
            <a:endParaRPr lang="en-US" sz="18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31520" y="41330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JavaScript London talk at NewDay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46304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1463040"/>
            <a:ext cx="4389120" cy="38404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31736" y="1572768"/>
            <a:ext cx="73152" cy="73152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572768"/>
            <a:ext cx="73152" cy="73152"/>
          </a:xfrm>
          <a:prstGeom prst="ellipse">
            <a:avLst/>
          </a:prstGeom>
          <a:solidFill>
            <a:srgbClr val="F0C15A"/>
          </a:solidFill>
          <a:ln w="12700">
            <a:solidFill>
              <a:srgbClr val="F0C1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24344" y="1572768"/>
            <a:ext cx="73152" cy="73152"/>
          </a:xfrm>
          <a:prstGeom prst="ellipse">
            <a:avLst/>
          </a:prstGeom>
          <a:solidFill>
            <a:srgbClr val="7FC97F"/>
          </a:solidFill>
          <a:ln w="12700">
            <a:solidFill>
              <a:srgbClr val="7FC9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1545336"/>
            <a:ext cx="3474720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1581912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checkout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59752" y="2103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CHECKOUT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59752" y="248716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Order summary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9752" y="2798064"/>
            <a:ext cx="2011680" cy="73152"/>
          </a:xfrm>
          <a:prstGeom prst="rect">
            <a:avLst/>
          </a:prstGeom>
          <a:solidFill>
            <a:srgbClr val="2D2A3E"/>
          </a:solidFill>
          <a:ln w="12700">
            <a:solidFill>
              <a:srgbClr val="2D2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752" y="3108960"/>
            <a:ext cx="2011680" cy="7315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9752" y="3419856"/>
            <a:ext cx="2011680" cy="7315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9752" y="3913632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E8006A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3986784"/>
            <a:ext cx="8229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Place order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3858768"/>
            <a:ext cx="4983480" cy="1783080"/>
          </a:xfrm>
          <a:prstGeom prst="roundRect">
            <a:avLst>
              <a:gd name="adj" fmla="val 4103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58768"/>
            <a:ext cx="498348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3968496"/>
            <a:ext cx="45811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exploration prompt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47104" y="4443984"/>
            <a:ext cx="4507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 the playwright-explore-website skill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47104" y="4663440"/>
            <a:ext cx="4507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 https:</a:t>
            </a:r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//staging.example.com.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47104" y="4882896"/>
            <a:ext cx="4507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 sign-in, password reset, and checkout.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47104" y="5102352"/>
            <a:ext cx="4507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Document likely locators and expected outcomes.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47104" y="5321808"/>
            <a:ext cx="4507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Draft one candidate Playwright </a:t>
            </a:r>
            <a:pPr indent="0" marL="0">
              <a:buNone/>
            </a:pPr>
            <a:r>
              <a:rPr lang="en-US" sz="105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pPr indent="0" marL="0">
              <a:buNone/>
            </a:pPr>
            <a:r>
              <a:rPr lang="en-US" sz="10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case.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5E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Roger Rajaratnam</a:t>
            </a:r>
            <a:endParaRPr lang="en-US" sz="1400" dirty="0"/>
          </a:p>
        </p:txBody>
      </p:sp>
      <p:sp>
        <p:nvSpPr>
          <p:cNvPr id="33" name="Text 31">
            <a:hlinkClick r:id="rId2" tooltip=""/>
          </p:cNvPr>
          <p:cNvSpPr/>
          <p:nvPr/>
        </p:nvSpPr>
        <p:spPr>
          <a:xfrm>
            <a:off x="731520" y="62910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sourcier.uk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ABOUT THE SPEAKER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short intro before we get into the browser-testing workflow.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6492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011680"/>
            <a:ext cx="4160520" cy="3611880"/>
          </a:xfrm>
          <a:prstGeom prst="roundRect">
            <a:avLst>
              <a:gd name="adj" fmla="val 3038"/>
            </a:avLst>
          </a:prstGeom>
          <a:solidFill>
            <a:srgbClr val="F6ECE1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35915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ROGER RAJARATNAM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32688" y="276148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Staff Engineer at NewDay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3200400"/>
            <a:ext cx="5623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I work at NewDay, focusing on technical leadership, delivery, and mentoring.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I write about software engineering, frontend tooling, and pragmatic architecture at sourcier.uk.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This version of the talk keeps the AI part grounded in real browser work instead of blind test generation.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26680" y="235915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Find me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26680" y="272491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links below are clickable in the exported deck.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26680" y="3584448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7854696" y="3712464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· sourcier.uk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26680" y="4224528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21" name="Text 19">
            <a:hlinkClick r:id="rId2" tooltip=""/>
          </p:cNvPr>
          <p:cNvSpPr/>
          <p:nvPr/>
        </p:nvSpPr>
        <p:spPr>
          <a:xfrm>
            <a:off x="7854696" y="4352544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· /in/roger-rajaratnam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Roger Rajaratnam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WHY AI SHOWS UP HERE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useful part is exploration, not blind test generation.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51560" y="2148840"/>
            <a:ext cx="100584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E8006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"</a:t>
            </a:r>
            <a:endParaRPr lang="en-US" sz="7000" dirty="0"/>
          </a:p>
        </p:txBody>
      </p:sp>
      <p:sp>
        <p:nvSpPr>
          <p:cNvPr id="13" name="Text 11"/>
          <p:cNvSpPr/>
          <p:nvPr/>
        </p:nvSpPr>
        <p:spPr>
          <a:xfrm>
            <a:off x="1920240" y="26974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AI to explore and propose. Use Playwright to automate and verify.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828800" y="43159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humans to decide what is worth keeping. That keeps the browser tests honest.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AI helps before the test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WHERE E2E FITS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Fast, cheap feedback at the base. A few real browser journeys at the top.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Unit tests cover small decisions quickly and cheaply.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Integration tests prove boundaries, contracts, and composed behaviour.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E2E tests protect the user journeys where failure would really hurt.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As cost per test rises, the number of tests should fall.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08483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A4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TEST COUNT FALLS AS COST PER TEST RISES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457200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4727448"/>
            <a:ext cx="4489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Many unit tests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39128" y="5047488"/>
            <a:ext cx="448970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 feedback · lowest setup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352044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FDEAF2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3675888"/>
            <a:ext cx="3209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Some integration tests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79208" y="3995928"/>
            <a:ext cx="320954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Boundaries · contracts · seams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24688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8006A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9288" y="2624328"/>
            <a:ext cx="1929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Few E2E tests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19288" y="2944368"/>
            <a:ext cx="1929384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Critical journeys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56509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Confidence and realism go up as you move higher. The number of tests should go down.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Use E2E for critical journeys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THE SKILL ACTUALLY IS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reusable Copilot SKILL.md file that tells Copilot when and how to use Playwright MCP.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1488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Skill file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2871216"/>
            <a:ext cx="4590288" cy="1847088"/>
          </a:xfrm>
          <a:prstGeom prst="roundRect">
            <a:avLst>
              <a:gd name="adj" fmla="val 3960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871216"/>
            <a:ext cx="4590288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980944"/>
            <a:ext cx="4187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playwright-explore-website/SKILL.md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" y="34564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</a:t>
            </a:r>
            <a:pPr indent="0" marL="0">
              <a:buNone/>
            </a:pPr>
            <a:r>
              <a:rPr lang="en-US" sz="99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/.copilot/s</a:t>
            </a:r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kills/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1060704" y="36667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1060704" y="38770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name: playwright-explore-website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1060704" y="40873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description: Website exploration for testing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060704" y="42976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using Playwright MCP</a:t>
            </a:r>
            <a:endParaRPr lang="en-US" sz="990" dirty="0"/>
          </a:p>
        </p:txBody>
      </p:sp>
      <p:sp>
        <p:nvSpPr>
          <p:cNvPr id="22" name="Text 20"/>
          <p:cNvSpPr/>
          <p:nvPr/>
        </p:nvSpPr>
        <p:spPr>
          <a:xfrm>
            <a:off x="1060704" y="45079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---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822960" y="4828032"/>
            <a:ext cx="4590288" cy="822960"/>
          </a:xfrm>
          <a:prstGeom prst="roundRect">
            <a:avLst>
              <a:gd name="adj" fmla="val 8889"/>
            </a:avLst>
          </a:prstGeom>
          <a:solidFill>
            <a:srgbClr val="F6ECE1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0292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Think of it as a reusable prompt with guardrails, not a test file and not a browser script.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565392" y="24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it tells Copilot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65392" y="2907792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How to discover the skill: the name and description are in frontmatter.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How to recover if Playwright MCP is missing: bootstrap setup instructions are built in.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How to explore: open the provided URL and inspect the rendered UI directly.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What to capture: flows, likely locators, and expected outcomes.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What to return: concise findings, candidate tests, and cleaned-up artifacts.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65392" y="5138928"/>
            <a:ext cx="4590288" cy="594360"/>
          </a:xfrm>
          <a:prstGeom prst="roundRect">
            <a:avLst>
              <a:gd name="adj" fmla="val 12308"/>
            </a:avLst>
          </a:prstGeom>
          <a:solidFill>
            <a:srgbClr val="FDEAF2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5230368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file has four jobs: discovery, setup, execution rules, and output requirements.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A skill is a reusable instruction file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THE SKILL DOES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Once Copilot loads the skill, this is the shape of the output it brings back.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14884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you get back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2907792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A walkthrough of a few important user flows in a real browser.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Likely stable locators tied to what is on the page now.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Expected outcomes worth asserting.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Candidate test cases before you write the final Playwright file.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65392" y="24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Example prompt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65392" y="2871216"/>
            <a:ext cx="4590288" cy="1719072"/>
          </a:xfrm>
          <a:prstGeom prst="roundRect">
            <a:avLst>
              <a:gd name="adj" fmla="val 4255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2871216"/>
            <a:ext cx="4590288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980944"/>
            <a:ext cx="41879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playwright-explore-website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34564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 the playwright-explore-website skill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6803136" y="36667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 https:</a:t>
            </a:r>
            <a:pPr indent="0" marL="0">
              <a:buNone/>
            </a:pPr>
            <a:r>
              <a:rPr lang="en-US" sz="1010" dirty="0">
                <a:solidFill>
                  <a:srgbClr val="8C8C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//staging.example.com.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6803136" y="38770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 sign-in, password reset, and checkout.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6803136" y="40873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Document likely stable locators and expected outcomes.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6803136" y="429768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Draft one candidate Playwright </a:t>
            </a:r>
            <a:pPr indent="0" marL="0">
              <a:buNone/>
            </a:pPr>
            <a:r>
              <a:rPr lang="en-US" sz="101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pPr indent="0" marL="0">
              <a:buNone/>
            </a:pPr>
            <a:r>
              <a:rPr lang="en-US" sz="101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case.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6565392" y="4828032"/>
            <a:ext cx="4590288" cy="822960"/>
          </a:xfrm>
          <a:prstGeom prst="roundRect">
            <a:avLst>
              <a:gd name="adj" fmla="val 8889"/>
            </a:avLst>
          </a:prstGeom>
          <a:solidFill>
            <a:srgbClr val="FDEAF2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5093208"/>
            <a:ext cx="41513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Output: flows · locators · expected outcomes · candidate tests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Explore first, automate second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LIVE DEMO: EXPLORATION OUTPUT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Copilot uses a real browser on the local site, then returns grounded inputs for a Playwright test.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20116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 we run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" y="2697480"/>
            <a:ext cx="4617720" cy="1901952"/>
          </a:xfrm>
          <a:prstGeom prst="roundRect">
            <a:avLst>
              <a:gd name="adj" fmla="val 3846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697480"/>
            <a:ext cx="461772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807208"/>
            <a:ext cx="42153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localhost 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" y="3282696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 the playwright-explore-website skill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1060704" y="3483864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 http:</a:t>
            </a:r>
            <a:pPr indent="0" marL="0">
              <a:buNone/>
            </a:pPr>
            <a:r>
              <a:rPr lang="en-US" sz="960" dirty="0">
                <a:solidFill>
                  <a:srgbClr val="8C8C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//localhost:9000/.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1060704" y="3685032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Explore the home page, one blog post,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1060704" y="3886200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the search flow.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1060704" y="4087368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Document likely stable locators,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060704" y="4288536"/>
            <a:ext cx="4142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expected outcomes, and one draft </a:t>
            </a:r>
            <a:pPr indent="0" marL="0">
              <a:buNone/>
            </a:pPr>
            <a:r>
              <a:rPr lang="en-US" sz="96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pPr indent="0" marL="0">
              <a:buNone/>
            </a:pPr>
            <a:r>
              <a:rPr lang="en-US" sz="96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22960" y="4864608"/>
            <a:ext cx="4617720" cy="841248"/>
          </a:xfrm>
          <a:prstGeom prst="roundRect">
            <a:avLst>
              <a:gd name="adj" fmla="val 8696"/>
            </a:avLst>
          </a:prstGeom>
          <a:solidFill>
            <a:srgbClr val="FDEAF2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02005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Runs against http://localhost:9000/ with Playwright MCP controlling a real browser session.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65392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the demo shows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65392" y="27614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8437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14032" y="2770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Copilot opens a real browser on the local site.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65392" y="3273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3558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14032" y="32826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explores the home page, one post, and search.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65392" y="37856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8679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14032" y="37947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returns the user journey and likely stable locators.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65392" y="4297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43799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14032" y="43068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 proposes expected outcomes and one draft Playwright test.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65392" y="48097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7D5B"/>
          </a:solidFill>
          <a:ln w="12700">
            <a:solidFill>
              <a:srgbClr val="1B5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8920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14032" y="481888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stop there: exploration first, final test authoring later.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565392" y="5394960"/>
            <a:ext cx="4590288" cy="658368"/>
          </a:xfrm>
          <a:prstGeom prst="roundRect">
            <a:avLst>
              <a:gd name="adj" fmla="val 11111"/>
            </a:avLst>
          </a:prstGeom>
          <a:solidFill>
            <a:srgbClr val="F6ECE1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5522976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handles discovery. Playwright handles the automation and verification.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Real browser exploration, then real Playwright automation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WHY PLAYWRIGHT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pragmatic default for browser automation and browser-based exploration.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5623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Cross-browser support out of the box: Chromium, Firefox, and WebKit.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Auto-waiting removes most timing hacks and sleep calls.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TypeScript-first APIs with a clean test runner.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Playwright MCP gives Copilot a real browser to inspect instead of guessing.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Codegen captures raw actions fast. --ui steps through tests live with a DOM inspector.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Trace Viewer makes CI failures debuggable instead of mysterious.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29400" y="2148840"/>
            <a:ext cx="4663440" cy="1993392"/>
          </a:xfrm>
          <a:prstGeom prst="roundRect">
            <a:avLst>
              <a:gd name="adj" fmla="val 3670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148840"/>
            <a:ext cx="466344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2258568"/>
            <a:ext cx="42611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67144" y="273405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playwright@latest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67144" y="300837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codegen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https://your-app.example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67144" y="328269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67144" y="355701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67144" y="383133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show-trace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trace.zip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425196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DEAF2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526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Honest comparison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4828032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Cypress is also good. Playwright pulls ahead when you need multi-browser coverage, multiple tabs, or better debugging in CI.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Tooling should reduce friction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EXPLORATION AND CODEGEN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They solve different problems, and you will usually want both.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4768" y="201168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Explore with the skill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Map the journey before you commit to code.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Capture likely locators and expected outcomes.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Use it when the product area is unfamiliar or the bug report is vague.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This is where the AI work earns its keep.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Reach for codegen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Capture a quick action scaffold once you understand the journey.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Use it for awkward flows and raw selector hints.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Rewrite the generated result so the test reads like a real scenario.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Exploration gives testing intent. Codegen gives interaction history.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4709160"/>
            <a:ext cx="4709160" cy="1188720"/>
          </a:xfrm>
          <a:prstGeom prst="roundRect">
            <a:avLst>
              <a:gd name="adj" fmla="val 6154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709160"/>
            <a:ext cx="470916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4818888"/>
            <a:ext cx="43068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quick scaffold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84264" y="5294376"/>
            <a:ext cx="4233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playwright@latest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84264" y="5532120"/>
            <a:ext cx="42336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codegen</a:t>
            </a:r>
            <a:pPr indent="0" marL="0">
              <a:buNone/>
            </a:pPr>
            <a:r>
              <a:rPr lang="en-US" sz="95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https://your-app.example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5532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the skill to explore first. Use codegen when you need a fast scaffold. Clean up the final test yourself.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Exploration gives testing intent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KEEP YOUR TESTS HONEST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Flaky tests are a trust problem before they are a tooling problem.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42519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DEAF2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205740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77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Avoid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waitForTimeout and arbitrary sleeps.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Selectors tied to styling classes.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Shared test data and leaked state — tests run in parallel.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Rule of thumb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 you need `waitForTimeout(2000)`, assume the test still isn't stable. Find the real signal to wait on instead.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2331720"/>
            <a:ext cx="4846320" cy="3063240"/>
          </a:xfrm>
          <a:prstGeom prst="roundRect">
            <a:avLst>
              <a:gd name="adj" fmla="val 2388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331720"/>
            <a:ext cx="484632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2441448"/>
            <a:ext cx="44439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better waiting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75704" y="291693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.getByRole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"button"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{ name: 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"Pay now"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})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.click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75704" y="319125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expect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.getByText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"Payment complete"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.toBeVisible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5704" y="346557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75704" y="373989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when you really need explicit waits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75704" y="401421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.waitForURL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"**/confirmation"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75704" y="4288536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.waitForResponse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/api\/orders/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Reliability beats raw test count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WAIT FOR THE RIGHT SIGNAL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Coordinate clicks and network responses so the test waits for real confirmation.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7132320" cy="3840480"/>
          </a:xfrm>
          <a:prstGeom prst="roundRect">
            <a:avLst>
              <a:gd name="adj" fmla="val 1905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57400"/>
            <a:ext cx="713232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167128"/>
            <a:ext cx="67299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e2e/checkout.spec.ts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" y="264261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Promise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.all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([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" y="291693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page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.waitForResponse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319125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(response) =&gt;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0664" y="346557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response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.url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.includes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"/api/orders"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 &amp;&amp; response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.ok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(),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373989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),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" y="401421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page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.getByRole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"button"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{ name: </a:t>
            </a:r>
            <a:pPr indent="0" marL="0">
              <a:buNone/>
            </a:pPr>
            <a:r>
              <a:rPr lang="en-US" sz="13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"Place order"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})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.click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(),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428853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" y="456285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" y="4837176"/>
            <a:ext cx="6656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expect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(page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.getByText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"Order confirmed"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</a:t>
            </a:r>
            <a:pPr indent="0" marL="0">
              <a:buNone/>
            </a:pPr>
            <a:r>
              <a:rPr lang="en-US" sz="13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.toBeVisible</a:t>
            </a:r>
            <a:pPr indent="0" marL="0">
              <a:buNone/>
            </a:pPr>
            <a:r>
              <a:rPr lang="en-US" sz="13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09560" y="2057400"/>
            <a:ext cx="4041648" cy="3840480"/>
          </a:xfrm>
          <a:prstGeom prst="roundRect">
            <a:avLst>
              <a:gd name="adj" fmla="val 1905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Why this works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27889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Promise.all fires the click and waits for the response simultaneously — no race condition.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Filtering by URL and ok() means you wait for the right request, not just any network activity.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The expect after confirms the UI reflects the response — two assertions for the price of one wait.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Wait for what the user actually sees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MAKE CHANGE CHEAPER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Stable selectors and small page objects keep suites alive.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5257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Use accessible locators first: role, label, 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Add `data-testid` only when the UI has no good semantic handle.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Extract repeated actions into page objects once two or three tests share them.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Move shared setup into fixtures — they compose cleanly and tear down automatically.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Use storageState to save authenticated browser state and avoid re-logging in across tests.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20574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057400"/>
            <a:ext cx="507492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167128"/>
            <a:ext cx="46725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pages/LoginPage.ts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47104" y="264261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export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LoginPage {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47104" y="291693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constructor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(page) {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.page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= page;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7104" y="319125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email =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.getByLabel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"Email"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47104" y="346557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password =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.getByLabel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"Password"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47104" y="373989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submit =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.page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.getByTestId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"login-submit"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47104" y="401421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async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login(email, password) {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47104" y="428853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.email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.fill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(email);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47104" y="456285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.password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.fill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(password);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47104" y="483717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.submit</a:t>
            </a:r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.click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47104" y="511149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47104" y="5385816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Page objects, fixtures, and storageState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RUN IN CI. DEBUG WITH TRACES.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a remote test fails, you need evidence, not guesses.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Run headless in CI and save traces on failure or retry.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The trace captures clicks, screenshots, console, network, and timing.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Open it locally and replay the failure like a black box recorder.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This is where Playwright feels better than many older tools.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166360" cy="3566160"/>
          </a:xfrm>
          <a:prstGeom prst="roundRect">
            <a:avLst>
              <a:gd name="adj" fmla="val 2051"/>
            </a:avLst>
          </a:prstGeom>
          <a:solidFill>
            <a:srgbClr val="F6ECE1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6832" y="26060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7889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Failing test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26060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DEAF2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7889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Trace artifact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02368" y="26060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93808" y="27889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Open locally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74152" y="2761488"/>
            <a:ext cx="201168" cy="292608"/>
          </a:xfrm>
          <a:prstGeom prst="chevron">
            <a:avLst/>
          </a:prstGeom>
          <a:solidFill>
            <a:srgbClr val="E8006A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2761488"/>
            <a:ext cx="201168" cy="292608"/>
          </a:xfrm>
          <a:prstGeom prst="chevron">
            <a:avLst/>
          </a:prstGeom>
          <a:solidFill>
            <a:srgbClr val="E8006A"/>
          </a:solidFill>
          <a:ln w="12700">
            <a:solidFill>
              <a:srgbClr val="E800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3794760"/>
            <a:ext cx="4526280" cy="1417320"/>
          </a:xfrm>
          <a:prstGeom prst="roundRect">
            <a:avLst>
              <a:gd name="adj" fmla="val 5161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3794760"/>
            <a:ext cx="4526280" cy="420624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3904488"/>
            <a:ext cx="41239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debugging commands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67144" y="437997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--trace=on-first-retry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67144" y="46542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show-trace</a:t>
            </a:r>
            <a:pPr indent="0" marL="0">
              <a:buNone/>
            </a:pPr>
            <a:r>
              <a:rPr lang="en-US" sz="12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trace.zip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CI failures should be inspectable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1097280"/>
            <a:ext cx="5394960" cy="4480560"/>
          </a:xfrm>
          <a:prstGeom prst="roundRect">
            <a:avLst>
              <a:gd name="adj" fmla="val 6122"/>
            </a:avLst>
          </a:prstGeom>
          <a:solidFill>
            <a:srgbClr val="E8006A">
              <a:alpha val="8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371600"/>
            <a:ext cx="5669280" cy="5120640"/>
          </a:xfrm>
          <a:prstGeom prst="roundRect">
            <a:avLst>
              <a:gd name="adj" fmla="val 5357"/>
            </a:avLst>
          </a:prstGeom>
          <a:solidFill>
            <a:srgbClr val="2A7D5B">
              <a:alpha val="10000"/>
            </a:srgbClr>
          </a:solidFill>
          <a:ln w="12700">
            <a:solidFill>
              <a:srgbClr val="2A7D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5029200"/>
            <a:ext cx="7406640" cy="3108960"/>
          </a:xfrm>
          <a:prstGeom prst="roundRect">
            <a:avLst>
              <a:gd name="adj" fmla="val 8824"/>
            </a:avLst>
          </a:prstGeom>
          <a:solidFill>
            <a:srgbClr val="E5D8C9">
              <a:alpha val="76000"/>
            </a:srgbClr>
          </a:solidFill>
          <a:ln w="12700">
            <a:solidFill>
              <a:srgbClr val="E5D8C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1410"/>
          </a:solidFill>
          <a:ln w="12700">
            <a:solidFill>
              <a:srgbClr val="10141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"/>
            <a:ext cx="12191695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12700">
            <a:solidFill>
              <a:srgbClr val="2A7D5B">
                <a:alpha val="7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SOURCIER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BEYOND TESTING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509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Playwright is a browser automation tool, not just a test runner.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8483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Screenshots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Screenshots for visual docs, design reviews, and release notes.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44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page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.screenshot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({ path: 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"cover.png"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fullPage: </a:t>
            </a:r>
            <a:pPr indent="0" marL="0">
              <a:buNone/>
            </a:pPr>
            <a:r>
              <a:rPr lang="en-US" sz="1000" dirty="0">
                <a:solidFill>
                  <a:srgbClr val="F4D2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});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08483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API Mocking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39572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Intercept any request and return a fixture — test edge cases without a real backend.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880360"/>
            <a:ext cx="4983480" cy="859536"/>
          </a:xfrm>
          <a:prstGeom prst="roundRect">
            <a:avLst>
              <a:gd name="adj" fmla="val 8511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044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page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.route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"**/api/orders"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(route) =&gt;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322783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route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.fulfill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({ json: { status: 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"confirmed"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} })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41071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2519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1655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PDF Generation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472744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Render any page to PDF with print CSS — invoices, reports, print layouts.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212080"/>
            <a:ext cx="4983480" cy="493776"/>
          </a:xfrm>
          <a:prstGeom prst="roundRect">
            <a:avLst>
              <a:gd name="adj" fmla="val 14815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7667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page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.pdf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({ path: 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"invoice.pdf"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format: 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"A4"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});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42519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AF4"/>
          </a:solidFill>
          <a:ln w="12700">
            <a:solidFill>
              <a:srgbClr val="D8C5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41655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File Downloads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37960" y="472744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Intercept and save downloads to verify export flows.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5212080"/>
            <a:ext cx="4983480" cy="1042416"/>
          </a:xfrm>
          <a:prstGeom prst="roundRect">
            <a:avLst>
              <a:gd name="adj" fmla="val 7018"/>
            </a:avLst>
          </a:prstGeom>
          <a:solidFill>
            <a:srgbClr val="121212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537667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[dl] = </a:t>
            </a:r>
            <a:pPr indent="0" marL="0">
              <a:buNone/>
            </a:pPr>
            <a:r>
              <a:rPr lang="en-US" sz="10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Promise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.all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([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55595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page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.waitForEvent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"download"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exportBtn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.click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74243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]);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592531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8AC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dl</a:t>
            </a:r>
            <a:pPr indent="0" marL="0">
              <a:buNone/>
            </a:pPr>
            <a:r>
              <a:rPr lang="en-US" sz="1000" dirty="0">
                <a:solidFill>
                  <a:srgbClr val="8BD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.saveAs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0C15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"export.csv"</a:t>
            </a:r>
            <a:pPr indent="0" marL="0">
              <a:buNone/>
            </a:pPr>
            <a:r>
              <a:rPr lang="en-US" sz="1000" dirty="0">
                <a:solidFill>
                  <a:srgbClr val="EFEF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739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sourcier.uk / Any task that needs a real browser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6B6B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645920"/>
            <a:ext cx="5852160" cy="5852160"/>
          </a:xfrm>
          <a:prstGeom prst="roundRect">
            <a:avLst>
              <a:gd name="adj" fmla="val 4688"/>
            </a:avLst>
          </a:prstGeom>
          <a:solidFill>
            <a:srgbClr val="E8006A">
              <a:alpha val="30000"/>
            </a:srgbClr>
          </a:solidFill>
          <a:ln w="12700">
            <a:solidFill>
              <a:srgbClr val="E8006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START WITH ONE FLOW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8D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things to do on Monday: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Pick one risky user journey.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59359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Explore it with playwright-explore-website.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1239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Turn the best path into one clean Playwright test.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4389120" cy="0"/>
          </a:xfrm>
          <a:prstGeom prst="line">
            <a:avLst/>
          </a:prstGeom>
          <a:noFill/>
          <a:ln w="12700">
            <a:solidFill>
              <a:srgbClr val="E80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30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D8D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0" y="4526280"/>
            <a:ext cx="3840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1232" y="4773168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Read the companion article</a:t>
            </a:r>
            <a:endParaRPr lang="en-US" sz="22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7571232" y="5120640"/>
            <a:ext cx="332841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u="sng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sourcier.uk/blog/playwright-e2e-testing-talk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Roger Rajaratnam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1996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sourcier.uk</a:t>
            </a:r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·  </a:t>
            </a:r>
            <a:pPr indent="0" marL="0">
              <a:buNone/>
            </a:pPr>
            <a:r>
              <a:rPr lang="en-US" sz="1400" u="sng" dirty="0">
                <a:solidFill>
                  <a:srgbClr val="E8006A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DBDBD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Sourcier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E2E testing AI skills</dc:title>
  <dc:subject>JavaScript London talk on using Playwright and GitHub Copilot skills for E2E testing and browser exploration</dc:subject>
  <dc:creator>Roger Rajaratnam</dc:creator>
  <cp:lastModifiedBy>Roger Rajaratnam</cp:lastModifiedBy>
  <cp:revision>1</cp:revision>
  <dcterms:created xsi:type="dcterms:W3CDTF">2026-04-29T10:11:05Z</dcterms:created>
  <dcterms:modified xsi:type="dcterms:W3CDTF">2026-04-29T10:11:05Z</dcterms:modified>
</cp:coreProperties>
</file>